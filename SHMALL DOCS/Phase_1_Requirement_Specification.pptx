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9" r:id="rId1"/>
    <p:sldMasterId id="2147484066" r:id="rId2"/>
  </p:sldMasterIdLst>
  <p:notesMasterIdLst>
    <p:notesMasterId r:id="rId36"/>
  </p:notesMasterIdLst>
  <p:handoutMasterIdLst>
    <p:handoutMasterId r:id="rId37"/>
  </p:handoutMasterIdLst>
  <p:sldIdLst>
    <p:sldId id="256" r:id="rId3"/>
    <p:sldId id="923" r:id="rId4"/>
    <p:sldId id="895" r:id="rId5"/>
    <p:sldId id="874" r:id="rId6"/>
    <p:sldId id="896" r:id="rId7"/>
    <p:sldId id="897" r:id="rId8"/>
    <p:sldId id="898" r:id="rId9"/>
    <p:sldId id="899" r:id="rId10"/>
    <p:sldId id="900" r:id="rId11"/>
    <p:sldId id="901" r:id="rId12"/>
    <p:sldId id="902" r:id="rId13"/>
    <p:sldId id="903" r:id="rId14"/>
    <p:sldId id="904" r:id="rId15"/>
    <p:sldId id="905" r:id="rId16"/>
    <p:sldId id="906" r:id="rId17"/>
    <p:sldId id="907" r:id="rId18"/>
    <p:sldId id="908" r:id="rId19"/>
    <p:sldId id="875" r:id="rId20"/>
    <p:sldId id="909" r:id="rId21"/>
    <p:sldId id="910" r:id="rId22"/>
    <p:sldId id="857" r:id="rId23"/>
    <p:sldId id="911" r:id="rId24"/>
    <p:sldId id="912" r:id="rId25"/>
    <p:sldId id="913" r:id="rId26"/>
    <p:sldId id="914" r:id="rId27"/>
    <p:sldId id="915" r:id="rId28"/>
    <p:sldId id="916" r:id="rId29"/>
    <p:sldId id="917" r:id="rId30"/>
    <p:sldId id="918" r:id="rId31"/>
    <p:sldId id="919" r:id="rId32"/>
    <p:sldId id="920" r:id="rId33"/>
    <p:sldId id="921" r:id="rId34"/>
    <p:sldId id="922" r:id="rId35"/>
  </p:sldIdLst>
  <p:sldSz cx="9144000" cy="6858000" type="screen4x3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  <a:srgbClr val="66FF33"/>
    <a:srgbClr val="FFCC66"/>
    <a:srgbClr val="FFCCFF"/>
    <a:srgbClr val="9900CC"/>
    <a:srgbClr val="006600"/>
    <a:srgbClr val="FFFF66"/>
    <a:srgbClr val="77EE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84" autoAdjust="0"/>
    <p:restoredTop sz="85753" autoAdjust="0"/>
  </p:normalViewPr>
  <p:slideViewPr>
    <p:cSldViewPr showGuides="1">
      <p:cViewPr varScale="1">
        <p:scale>
          <a:sx n="110" d="100"/>
          <a:sy n="110" d="100"/>
        </p:scale>
        <p:origin x="140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53" d="100"/>
          <a:sy n="53" d="100"/>
        </p:scale>
        <p:origin x="3150" y="9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57883A2B-1520-4660-BF58-16B187C346B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62525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6197" name="Rectangle 5">
            <a:extLst>
              <a:ext uri="{FF2B5EF4-FFF2-40B4-BE49-F238E27FC236}">
                <a16:creationId xmlns:a16="http://schemas.microsoft.com/office/drawing/2014/main" id="{A35F5504-76A1-4FCF-80B3-5E549EFB8E6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5125" y="4715832"/>
            <a:ext cx="4987425" cy="4464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709" tIns="46855" rIns="93709" bIns="46855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ko-KR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Verdana" panose="020B0604030504040204" pitchFamily="34" charset="0"/>
        <a:ea typeface="굴림" panose="020B0600000101010101" pitchFamily="50" charset="-127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10DF882-1141-412B-A619-6D40D7D4DE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249A60D-F3D9-4C03-880C-16BA85A95F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12234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277410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878971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535303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67810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518797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330803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427529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914904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434268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979631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811096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041526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348907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431315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999236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494882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136798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409384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280856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676440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719854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762606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181392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93695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198845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459755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617834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6065264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337735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908892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F8E8F66-DECB-4BDE-96E1-5693B29B0D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B2D052-8850-420F-ACFD-54589A4312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58079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D5BA0025-300A-4296-9B33-0FAD6E3D1282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1C873EC7-72A1-4952-AC2D-5215A40233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5EE46240-023B-4F73-BD9C-1C9A08A95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38873417-0285-4B62-9052-C886D60376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DDD712B7-2A52-4ECE-BADB-D47394FAAA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6B3E4A82-4BE0-40BE-BFF3-DC22DCB098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B05B78DC-ADA5-42D0-ABA5-816FD0522F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굴림" panose="020B0600000101010101" pitchFamily="50" charset="-127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25309989-A2AC-425F-A9A0-F5C70130A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4FF6FA5A-D0A7-476B-B3B1-C20102A8A4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C04BFCD1-0F31-4539-98E5-84ACF78D4E8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24212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ko-KR" noProof="0"/>
              <a:t>Click to edit Master title style</a:t>
            </a:r>
          </a:p>
        </p:txBody>
      </p:sp>
      <p:sp>
        <p:nvSpPr>
          <p:cNvPr id="124212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ko-KR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23208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6066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0916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3468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6064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7312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1488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3093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70318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7875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58437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1150938" y="617538"/>
            <a:ext cx="7804150" cy="5514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38396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4363" y="-42863"/>
            <a:ext cx="7513637" cy="1143001"/>
          </a:xfrm>
        </p:spPr>
        <p:txBody>
          <a:bodyPr/>
          <a:lstStyle>
            <a:lvl1pPr>
              <a:lnSpc>
                <a:spcPct val="120000"/>
              </a:lnSpc>
              <a:spcAft>
                <a:spcPct val="20000"/>
              </a:spcAft>
              <a:defRPr/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66738" y="3076575"/>
            <a:ext cx="6400800" cy="1752600"/>
          </a:xfrm>
        </p:spPr>
        <p:txBody>
          <a:bodyPr/>
          <a:lstStyle>
            <a:lvl1pPr>
              <a:spcBef>
                <a:spcPct val="0"/>
              </a:spcBef>
              <a:spcAft>
                <a:spcPct val="0"/>
              </a:spcAft>
              <a:defRPr sz="3600"/>
            </a:lvl1pPr>
          </a:lstStyle>
          <a:p>
            <a:pPr lvl="0"/>
            <a:r>
              <a:rPr lang="en-US" noProof="0" dirty="0"/>
              <a:t>Click to edit Master subtitle style</a:t>
            </a:r>
          </a:p>
        </p:txBody>
      </p:sp>
      <p:pic>
        <p:nvPicPr>
          <p:cNvPr id="5" name="Picture 4" descr="TTUS SEAL Bline.eps"/>
          <p:cNvPicPr>
            <a:picLocks noChangeAspect="1"/>
          </p:cNvPicPr>
          <p:nvPr userDrawn="1"/>
        </p:nvPicPr>
        <p:blipFill>
          <a:blip r:embed="rId2">
            <a:alphaModFix amt="1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133" y="1715449"/>
            <a:ext cx="4685806" cy="4685806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5DCAB04-5C8A-4A3E-BB23-CD70712956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941CFF-B491-4296-AD0F-8E463E38FFDE}" type="slidenum">
              <a:rPr lang="en-US" smtClean="0"/>
              <a:pPr/>
              <a:t>‹#›</a:t>
            </a:fld>
            <a:r>
              <a:rPr lang="en-US" dirty="0"/>
              <a:t>/38</a:t>
            </a:r>
          </a:p>
        </p:txBody>
      </p:sp>
    </p:spTree>
    <p:extLst>
      <p:ext uri="{BB962C8B-B14F-4D97-AF65-F5344CB8AC3E}">
        <p14:creationId xmlns:p14="http://schemas.microsoft.com/office/powerpoint/2010/main" val="42627420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14363" y="-25400"/>
            <a:ext cx="7515225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569913" y="2130425"/>
            <a:ext cx="8229600" cy="4525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426F1EC9-4C3F-4BF9-AAB6-D333F12126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2113" y="647382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8941CFF-B491-4296-AD0F-8E463E38FFDE}" type="slidenum">
              <a:rPr lang="en-US" smtClean="0"/>
              <a:pPr/>
              <a:t>‹#›</a:t>
            </a:fld>
            <a:r>
              <a:rPr lang="en-US" dirty="0"/>
              <a:t>/38</a:t>
            </a:r>
          </a:p>
        </p:txBody>
      </p:sp>
    </p:spTree>
    <p:extLst>
      <p:ext uri="{BB962C8B-B14F-4D97-AF65-F5344CB8AC3E}">
        <p14:creationId xmlns:p14="http://schemas.microsoft.com/office/powerpoint/2010/main" val="2264533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09767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14363" y="-25400"/>
            <a:ext cx="7515225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569913" y="213042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"/>
          </p:nvPr>
        </p:nvSpPr>
        <p:spPr>
          <a:xfrm>
            <a:off x="4760913" y="213042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408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26982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14363" y="-25400"/>
            <a:ext cx="7515225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1E1E2D3B-FB16-4B5C-942F-8B627412B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2113" y="647382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8941CFF-B491-4296-AD0F-8E463E38FFDE}" type="slidenum">
              <a:rPr lang="en-US" smtClean="0"/>
              <a:pPr/>
              <a:t>‹#›</a:t>
            </a:fld>
            <a:r>
              <a:rPr lang="en-US" dirty="0"/>
              <a:t>/38</a:t>
            </a:r>
          </a:p>
        </p:txBody>
      </p:sp>
    </p:spTree>
    <p:extLst>
      <p:ext uri="{BB962C8B-B14F-4D97-AF65-F5344CB8AC3E}">
        <p14:creationId xmlns:p14="http://schemas.microsoft.com/office/powerpoint/2010/main" val="17307164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E098698-F311-4B17-9D78-9A01BD0E2E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2113" y="647382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8941CFF-B491-4296-AD0F-8E463E38FFDE}" type="slidenum">
              <a:rPr lang="en-US" smtClean="0"/>
              <a:pPr/>
              <a:t>‹#›</a:t>
            </a:fld>
            <a:r>
              <a:rPr lang="en-US" dirty="0"/>
              <a:t>/38</a:t>
            </a:r>
          </a:p>
        </p:txBody>
      </p:sp>
    </p:spTree>
    <p:extLst>
      <p:ext uri="{BB962C8B-B14F-4D97-AF65-F5344CB8AC3E}">
        <p14:creationId xmlns:p14="http://schemas.microsoft.com/office/powerpoint/2010/main" val="20731359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3E69A746-9A82-44B6-86BF-706BDDCB7A6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9848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90235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14363" y="-25400"/>
            <a:ext cx="7515225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9913" y="2130425"/>
            <a:ext cx="8229600" cy="45259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585587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itle 1"/>
          <p:cNvSpPr>
            <a:spLocks noGrp="1"/>
          </p:cNvSpPr>
          <p:nvPr>
            <p:ph type="title" orient="vert"/>
          </p:nvPr>
        </p:nvSpPr>
        <p:spPr>
          <a:xfrm>
            <a:off x="6742113" y="-25400"/>
            <a:ext cx="2057400" cy="66817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9913" y="-25400"/>
            <a:ext cx="6019800" cy="66817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23539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 i="0">
                <a:latin typeface="Gill Sans MT" panose="020B0502020104020203" pitchFamily="34" charset="0"/>
              </a:defRPr>
            </a:lvl1pPr>
            <a:lvl2pPr>
              <a:defRPr sz="1800" i="0">
                <a:latin typeface="Gill Sans MT" panose="020B0502020104020203" pitchFamily="34" charset="0"/>
              </a:defRPr>
            </a:lvl2pPr>
            <a:lvl3pPr>
              <a:defRPr sz="1800" i="0">
                <a:latin typeface="Gill Sans MT" panose="020B0502020104020203" pitchFamily="34" charset="0"/>
              </a:defRPr>
            </a:lvl3pPr>
            <a:lvl4pPr>
              <a:defRPr sz="1800" i="0">
                <a:latin typeface="Gill Sans MT" panose="020B0502020104020203" pitchFamily="34" charset="0"/>
              </a:defRPr>
            </a:lvl4pPr>
            <a:lvl5pPr>
              <a:defRPr sz="1800" i="0"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B8C50AB-BD10-483A-ADBB-6F432C40B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000">
                <a:latin typeface="Gill Sans MT" panose="020B0502020104020203" pitchFamily="34" charset="0"/>
              </a:defRPr>
            </a:lvl1pPr>
          </a:lstStyle>
          <a:p>
            <a:r>
              <a:rPr lang="en-US" altLang="ko-KR" dirty="0"/>
              <a:t>Click to edit Master title style</a:t>
            </a:r>
            <a:endParaRPr lang="ko-KR" altLang="en-US" dirty="0"/>
          </a:p>
        </p:txBody>
      </p:sp>
      <p:sp>
        <p:nvSpPr>
          <p:cNvPr id="5" name="슬라이드 번호 개체 틀 1">
            <a:extLst>
              <a:ext uri="{FF2B5EF4-FFF2-40B4-BE49-F238E27FC236}">
                <a16:creationId xmlns:a16="http://schemas.microsoft.com/office/drawing/2014/main" id="{FEC1C5AD-CE87-4D2F-B06B-04C806DA8E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2113" y="647382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8941CFF-B491-4296-AD0F-8E463E38FFDE}" type="slidenum">
              <a:rPr lang="en-US" smtClean="0"/>
              <a:pPr/>
              <a:t>‹#›</a:t>
            </a:fld>
            <a:r>
              <a:rPr lang="en-US" dirty="0"/>
              <a:t>/38</a:t>
            </a:r>
          </a:p>
        </p:txBody>
      </p:sp>
    </p:spTree>
    <p:extLst>
      <p:ext uri="{BB962C8B-B14F-4D97-AF65-F5344CB8AC3E}">
        <p14:creationId xmlns:p14="http://schemas.microsoft.com/office/powerpoint/2010/main" val="3680992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3160761-5107-44E1-B4ED-21462A4122A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kumimoji="1" lang="ko-KR" altLang="en-US" sz="2400">
              <a:latin typeface="Tahoma" panose="020B0604030504040204" pitchFamily="34" charset="0"/>
            </a:endParaRP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F9E40BA-F8D0-48A8-8361-65A55799577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kumimoji="1" lang="ko-KR" altLang="en-US" sz="2400">
              <a:latin typeface="Tahoma" panose="020B0604030504040204" pitchFamily="34" charset="0"/>
            </a:endParaRP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252192F-FBF2-4437-B509-F5CA794D008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kumimoji="1" lang="ko-KR" altLang="en-US" sz="2400">
              <a:latin typeface="Tahoma" panose="020B0604030504040204" pitchFamily="34" charset="0"/>
            </a:endParaRP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66A4BFD-856F-4D4E-BBF7-479C8A4B478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kumimoji="1" lang="ko-KR" altLang="en-US" sz="2400">
              <a:latin typeface="Tahoma" panose="020B0604030504040204" pitchFamily="34" charset="0"/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603265E-76AD-48B6-9F72-58F3BBBB34A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kumimoji="1" lang="ko-KR" altLang="en-US" sz="2400">
              <a:latin typeface="Tahoma" panose="020B0604030504040204" pitchFamily="34" charset="0"/>
            </a:endParaRP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E23847-2842-491B-B516-47C93F21900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kumimoji="1" lang="ko-KR" altLang="en-US" sz="2400">
              <a:latin typeface="Tahoma" panose="020B0604030504040204" pitchFamily="34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31AAB6F5-FA62-4B5C-B6CC-4D56F00425E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kumimoji="1" lang="ko-KR" altLang="en-US" sz="2400">
              <a:latin typeface="Tahoma" panose="020B0604030504040204" pitchFamily="34" charset="0"/>
            </a:endParaRPr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F7EEFEAB-24BD-481C-8118-595448625B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55D7D737-1905-4742-BC0D-E12FA8177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5" r:id="rId1"/>
    <p:sldLayoutId id="2147484054" r:id="rId2"/>
    <p:sldLayoutId id="2147484055" r:id="rId3"/>
    <p:sldLayoutId id="2147484056" r:id="rId4"/>
    <p:sldLayoutId id="2147484057" r:id="rId5"/>
    <p:sldLayoutId id="2147484058" r:id="rId6"/>
    <p:sldLayoutId id="2147484059" r:id="rId7"/>
    <p:sldLayoutId id="2147484060" r:id="rId8"/>
    <p:sldLayoutId id="2147484061" r:id="rId9"/>
    <p:sldLayoutId id="2147484062" r:id="rId10"/>
    <p:sldLayoutId id="2147484063" r:id="rId11"/>
    <p:sldLayoutId id="2147484064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anose="02020603050405020304" pitchFamily="18" charset="0"/>
          <a:ea typeface="굴림" panose="020B0600000101010101" pitchFamily="50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146175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  <a:latin typeface="gall sant"/>
            </a:endParaRPr>
          </a:p>
        </p:txBody>
      </p:sp>
      <p:pic>
        <p:nvPicPr>
          <p:cNvPr id="2051" name="Picture 7"/>
          <p:cNvPicPr>
            <a:picLocks noChangeAspect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7939088" y="134938"/>
            <a:ext cx="85725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14363" y="-25400"/>
            <a:ext cx="751522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9913" y="2130425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7F8BDB6-6F16-4EF3-B941-E785F1885C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2113" y="647382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8941CFF-B491-4296-AD0F-8E463E38FFDE}" type="slidenum">
              <a:rPr lang="en-US" smtClean="0"/>
              <a:pPr/>
              <a:t>‹#›</a:t>
            </a:fld>
            <a:r>
              <a:rPr lang="en-US" dirty="0"/>
              <a:t>/38</a:t>
            </a:r>
          </a:p>
        </p:txBody>
      </p:sp>
    </p:spTree>
    <p:extLst>
      <p:ext uri="{BB962C8B-B14F-4D97-AF65-F5344CB8AC3E}">
        <p14:creationId xmlns:p14="http://schemas.microsoft.com/office/powerpoint/2010/main" val="3588004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7" r:id="rId1"/>
    <p:sldLayoutId id="2147484068" r:id="rId2"/>
    <p:sldLayoutId id="2147484069" r:id="rId3"/>
    <p:sldLayoutId id="2147484070" r:id="rId4"/>
    <p:sldLayoutId id="2147484071" r:id="rId5"/>
    <p:sldLayoutId id="2147484072" r:id="rId6"/>
    <p:sldLayoutId id="2147484073" r:id="rId7"/>
    <p:sldLayoutId id="2147484074" r:id="rId8"/>
    <p:sldLayoutId id="2147484075" r:id="rId9"/>
    <p:sldLayoutId id="2147484076" r:id="rId10"/>
    <p:sldLayoutId id="2147484077" r:id="rId11"/>
    <p:sldLayoutId id="2147484078" r:id="rId12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2000" kern="1200">
          <a:solidFill>
            <a:schemeClr val="bg1"/>
          </a:solidFill>
          <a:latin typeface="gall sant"/>
          <a:ea typeface="ＭＳ Ｐゴシック" charset="0"/>
          <a:cs typeface="Times New Roman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Times New Roman" charset="0"/>
          <a:ea typeface="ＭＳ Ｐゴシック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Times New Roman" charset="0"/>
          <a:ea typeface="ＭＳ Ｐゴシック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Times New Roman" charset="0"/>
          <a:ea typeface="ＭＳ Ｐゴシック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Times New Roman" charset="0"/>
          <a:ea typeface="ＭＳ Ｐゴシック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Times New Roman" charset="0"/>
          <a:ea typeface="ＭＳ Ｐゴシック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Times New Roman" charset="0"/>
          <a:ea typeface="ＭＳ Ｐゴシック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Times New Roman" charset="0"/>
          <a:ea typeface="ＭＳ Ｐゴシック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Times New Roman" charset="0"/>
          <a:ea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defRPr sz="1800" i="0" kern="1200">
          <a:solidFill>
            <a:schemeClr val="tx1"/>
          </a:solidFill>
          <a:latin typeface="gall sant"/>
          <a:ea typeface="ＭＳ Ｐゴシック" charset="0"/>
          <a:cs typeface="Times New Roman"/>
        </a:defRPr>
      </a:lvl1pPr>
      <a:lvl2pPr marL="800100" indent="-342900" algn="l" defTabSz="457200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§"/>
        <a:defRPr sz="1800" i="0" kern="1200">
          <a:solidFill>
            <a:srgbClr val="000000"/>
          </a:solidFill>
          <a:latin typeface="gall sant"/>
          <a:ea typeface="ＭＳ Ｐゴシック" charset="0"/>
          <a:cs typeface="Times New Roman"/>
        </a:defRPr>
      </a:lvl2pPr>
      <a:lvl3pPr marL="12001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 i="0" kern="1200">
          <a:solidFill>
            <a:schemeClr val="tx1"/>
          </a:solidFill>
          <a:latin typeface="gall sant"/>
          <a:ea typeface="ＭＳ Ｐゴシック" charset="0"/>
          <a:cs typeface="Times New Roman"/>
        </a:defRPr>
      </a:lvl3pPr>
      <a:lvl4pPr marL="1657350" indent="-285750" algn="l" defTabSz="457200" rtl="0" eaLnBrk="0" fontAlgn="base" hangingPunct="0">
        <a:spcBef>
          <a:spcPct val="20000"/>
        </a:spcBef>
        <a:spcAft>
          <a:spcPct val="0"/>
        </a:spcAft>
        <a:buFont typeface="Lucida Grande" pitchFamily="-84" charset="0"/>
        <a:buChar char="-"/>
        <a:defRPr sz="1800" i="0" kern="1200">
          <a:solidFill>
            <a:schemeClr val="tx1"/>
          </a:solidFill>
          <a:latin typeface="gall sant"/>
          <a:ea typeface="ＭＳ Ｐゴシック" charset="0"/>
          <a:cs typeface="Times New Roman"/>
        </a:defRPr>
      </a:lvl4pPr>
      <a:lvl5pPr marL="1828800" algn="l" defTabSz="457200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defRPr sz="1800" i="0" kern="1200">
          <a:solidFill>
            <a:schemeClr val="tx1"/>
          </a:solidFill>
          <a:latin typeface="gall sant"/>
          <a:ea typeface="ＭＳ Ｐゴシック" charset="0"/>
          <a:cs typeface="Times New Roman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2D7BDD79-23E2-4C3D-B6B5-6C55C32BA8B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81000" y="1447800"/>
            <a:ext cx="8382000" cy="1143000"/>
          </a:xfrm>
        </p:spPr>
        <p:txBody>
          <a:bodyPr/>
          <a:lstStyle/>
          <a:p>
            <a:pPr algn="ctr" eaLnBrk="1" hangingPunct="1"/>
            <a:r>
              <a:rPr lang="en-US" altLang="ko-KR" sz="3600" b="1" dirty="0">
                <a:latin typeface="Gill Sans MT" panose="020B0502020104020203" pitchFamily="34" charset="0"/>
              </a:rPr>
              <a:t>Phase 1: Requirement Specification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Use Case Modeling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Use Case Model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Define system functional requirements in terms of Actors and Use cases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Non-function requirements may be described in use case document</a:t>
            </a:r>
          </a:p>
        </p:txBody>
      </p:sp>
    </p:spTree>
    <p:extLst>
      <p:ext uri="{BB962C8B-B14F-4D97-AF65-F5344CB8AC3E}">
        <p14:creationId xmlns:p14="http://schemas.microsoft.com/office/powerpoint/2010/main" val="3627152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Use Case Modeling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UML notation for use case diagram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l="16307" t="43470" r="44515" b="14081"/>
          <a:stretch/>
        </p:blipFill>
        <p:spPr>
          <a:xfrm>
            <a:off x="2465387" y="2514600"/>
            <a:ext cx="38100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573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Actors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Actors are external to system</a:t>
            </a:r>
          </a:p>
          <a:p>
            <a:pPr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Actors interact directly with system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Starts the use case by providing input to the system</a:t>
            </a:r>
          </a:p>
          <a:p>
            <a:pPr lvl="1"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Example of Actors: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Human user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External system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Input device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Timer</a:t>
            </a:r>
          </a:p>
          <a:p>
            <a:pPr lvl="1"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When actor communicates with actor and bypasses the system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Report stolen card use case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ATM customer sends message to ATM operator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ATM customer talks over the phone to a bank clerk</a:t>
            </a:r>
          </a:p>
          <a:p>
            <a:pPr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8B709B4-D82D-271C-FF31-CDF17114245F}"/>
              </a:ext>
            </a:extLst>
          </p:cNvPr>
          <p:cNvGrpSpPr/>
          <p:nvPr/>
        </p:nvGrpSpPr>
        <p:grpSpPr>
          <a:xfrm>
            <a:off x="-1600200" y="2540000"/>
            <a:ext cx="491067" cy="914400"/>
            <a:chOff x="3917949" y="3124200"/>
            <a:chExt cx="491067" cy="914400"/>
          </a:xfrm>
          <a:noFill/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0A18F7B0-7A60-61E7-2309-B73BCC55D9EC}"/>
                </a:ext>
              </a:extLst>
            </p:cNvPr>
            <p:cNvSpPr/>
            <p:nvPr/>
          </p:nvSpPr>
          <p:spPr bwMode="auto">
            <a:xfrm>
              <a:off x="3962400" y="3124200"/>
              <a:ext cx="381000" cy="381000"/>
            </a:xfrm>
            <a:prstGeom prst="ellips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굴림" panose="020B0600000101010101" pitchFamily="50" charset="-127"/>
              </a:endParaRP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7F45DCD-A72D-5EC6-2E55-3F32C34B979C}"/>
                </a:ext>
              </a:extLst>
            </p:cNvPr>
            <p:cNvCxnSpPr>
              <a:stCxn id="3" idx="4"/>
            </p:cNvCxnSpPr>
            <p:nvPr/>
          </p:nvCxnSpPr>
          <p:spPr bwMode="auto">
            <a:xfrm>
              <a:off x="4152900" y="3505200"/>
              <a:ext cx="10583" cy="27940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113737B-366F-7DA7-886F-275022445909}"/>
                </a:ext>
              </a:extLst>
            </p:cNvPr>
            <p:cNvCxnSpPr/>
            <p:nvPr/>
          </p:nvCxnSpPr>
          <p:spPr bwMode="auto">
            <a:xfrm flipH="1">
              <a:off x="3917949" y="3626908"/>
              <a:ext cx="491067" cy="14817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308759B-6166-3772-4218-9F8FBCBD1778}"/>
                </a:ext>
              </a:extLst>
            </p:cNvPr>
            <p:cNvCxnSpPr/>
            <p:nvPr/>
          </p:nvCxnSpPr>
          <p:spPr bwMode="auto">
            <a:xfrm flipH="1">
              <a:off x="3962400" y="3784600"/>
              <a:ext cx="201082" cy="254000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2909CB7-FC83-42CC-C467-0878277E27F4}"/>
                </a:ext>
              </a:extLst>
            </p:cNvPr>
            <p:cNvCxnSpPr/>
            <p:nvPr/>
          </p:nvCxnSpPr>
          <p:spPr bwMode="auto">
            <a:xfrm>
              <a:off x="4163482" y="3775075"/>
              <a:ext cx="190500" cy="263525"/>
            </a:xfrm>
            <a:prstGeom prst="line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799365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Actors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Actor initiates interactions with use case</a:t>
            </a:r>
          </a:p>
          <a:p>
            <a:pPr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Primary Actor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Starts the use case by providing input to the system</a:t>
            </a:r>
          </a:p>
          <a:p>
            <a:pPr lvl="1"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Secondary Actor(s)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Participates in use case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Can be Primary Actor of a different use case</a:t>
            </a:r>
          </a:p>
          <a:p>
            <a:pPr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640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Actors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l="7836" t="45714" r="43584" b="24082"/>
          <a:stretch/>
        </p:blipFill>
        <p:spPr>
          <a:xfrm>
            <a:off x="1752600" y="2857500"/>
            <a:ext cx="4724401" cy="2819400"/>
          </a:xfrm>
          <a:prstGeom prst="rect">
            <a:avLst/>
          </a:prstGeom>
        </p:spPr>
      </p:pic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Example of human user actor</a:t>
            </a:r>
          </a:p>
        </p:txBody>
      </p:sp>
    </p:spTree>
    <p:extLst>
      <p:ext uri="{BB962C8B-B14F-4D97-AF65-F5344CB8AC3E}">
        <p14:creationId xmlns:p14="http://schemas.microsoft.com/office/powerpoint/2010/main" val="3711762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Actors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Example of External system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l="14740" t="54898" r="37463" b="25510"/>
          <a:stretch/>
        </p:blipFill>
        <p:spPr>
          <a:xfrm>
            <a:off x="1503817" y="2895600"/>
            <a:ext cx="6391275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023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Actors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Example of input device actor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l="13173" t="36938" r="37463" b="43470"/>
          <a:stretch/>
        </p:blipFill>
        <p:spPr>
          <a:xfrm>
            <a:off x="1685925" y="2971800"/>
            <a:ext cx="600075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278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Actors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Example of timer actor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l="13957" t="33674" r="39030" b="45918"/>
          <a:stretch/>
        </p:blipFill>
        <p:spPr>
          <a:xfrm>
            <a:off x="1615440" y="2971800"/>
            <a:ext cx="621792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498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Use cases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Use case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Describes a complete sequence of interactions between actor and system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Starts with input from an actor</a:t>
            </a:r>
          </a:p>
          <a:p>
            <a:pPr lvl="3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Main sequence</a:t>
            </a:r>
          </a:p>
          <a:p>
            <a:pPr lvl="4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 Most common sequence of interactions with actor</a:t>
            </a:r>
          </a:p>
          <a:p>
            <a:pPr lvl="3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Alternative sequences</a:t>
            </a:r>
          </a:p>
          <a:p>
            <a:pPr lvl="4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Deviations from main sequence</a:t>
            </a:r>
          </a:p>
          <a:p>
            <a:pPr lvl="4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E.g., for error handling or branches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Not too many small function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Each use case deals with one function from actor perspective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Good use case: Withdraw Funds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Bad use cases: Eject Card, Enter PIN, Dispense Cash, Print Receipt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Use case name: Should describe an action, e.g., Validate PIN</a:t>
            </a:r>
          </a:p>
        </p:txBody>
      </p:sp>
    </p:spTree>
    <p:extLst>
      <p:ext uri="{BB962C8B-B14F-4D97-AF65-F5344CB8AC3E}">
        <p14:creationId xmlns:p14="http://schemas.microsoft.com/office/powerpoint/2010/main" val="2260196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Use cases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Identifying use cases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Start with primary actor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Consider each major function an actor needs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Must provides value to actor</a:t>
            </a:r>
          </a:p>
        </p:txBody>
      </p:sp>
    </p:spTree>
    <p:extLst>
      <p:ext uri="{BB962C8B-B14F-4D97-AF65-F5344CB8AC3E}">
        <p14:creationId xmlns:p14="http://schemas.microsoft.com/office/powerpoint/2010/main" val="3222921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Use cases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Online Shopping System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l="17525" t="47551" r="50000" b="19252"/>
          <a:stretch/>
        </p:blipFill>
        <p:spPr>
          <a:xfrm>
            <a:off x="2514600" y="2717800"/>
            <a:ext cx="3352800" cy="367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Use cases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Browse Catalog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Customer browses catalog and selects items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System displays selected items and price</a:t>
            </a:r>
          </a:p>
          <a:p>
            <a:pPr lvl="1"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Make Order Request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Customer makes purchase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Customer provides account and credit card info</a:t>
            </a:r>
          </a:p>
          <a:p>
            <a:pPr lvl="1"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View Order Status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Customer views status of order</a:t>
            </a:r>
          </a:p>
        </p:txBody>
      </p:sp>
    </p:spTree>
    <p:extLst>
      <p:ext uri="{BB962C8B-B14F-4D97-AF65-F5344CB8AC3E}">
        <p14:creationId xmlns:p14="http://schemas.microsoft.com/office/powerpoint/2010/main" val="1252076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Documenting Use cases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Name</a:t>
            </a: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Summary - Short description of use case</a:t>
            </a: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Dependency (on other use cases)</a:t>
            </a: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Actors – primary, secondary</a:t>
            </a: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Precondition(s)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Condition that exists before use case executes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e.g., ATM is Idle, displaying a welcome message</a:t>
            </a: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Description of main sequence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Most common sequence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Sentences start with System or Actor, e.g.,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Customer selects payment by credit card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System prompts Customer to swipe card</a:t>
            </a:r>
          </a:p>
        </p:txBody>
      </p:sp>
    </p:spTree>
    <p:extLst>
      <p:ext uri="{BB962C8B-B14F-4D97-AF65-F5344CB8AC3E}">
        <p14:creationId xmlns:p14="http://schemas.microsoft.com/office/powerpoint/2010/main" val="1414384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Documenting Use cases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Description of alternative sequences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Deviations from main sequence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E.g., for error handling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Identify step # where deviation starts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Rejoin main sequence?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Application dependent</a:t>
            </a: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Nonfunctional requirements (optional)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Can be specified in a section separated from the use case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Can be specified with use case</a:t>
            </a:r>
          </a:p>
          <a:p>
            <a:pPr eaLnBrk="1" hangingPunct="1">
              <a:spcBef>
                <a:spcPct val="0"/>
              </a:spcBef>
            </a:pPr>
            <a:r>
              <a:rPr lang="en-US" altLang="ko-KR" sz="1800" dirty="0" err="1">
                <a:latin typeface="Gill Sans MT" panose="020B0502020104020203" pitchFamily="34" charset="0"/>
              </a:rPr>
              <a:t>Postcondition</a:t>
            </a:r>
            <a:endParaRPr lang="en-US" altLang="ko-KR" sz="1800" dirty="0">
              <a:latin typeface="Gill Sans MT" panose="020B0502020104020203" pitchFamily="34" charset="0"/>
            </a:endParaRP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Condition that is true at end of use case</a:t>
            </a:r>
          </a:p>
        </p:txBody>
      </p:sp>
    </p:spTree>
    <p:extLst>
      <p:ext uri="{BB962C8B-B14F-4D97-AF65-F5344CB8AC3E}">
        <p14:creationId xmlns:p14="http://schemas.microsoft.com/office/powerpoint/2010/main" val="770219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Example of Use Case Documentation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b="1" dirty="0">
                <a:latin typeface="Gill Sans MT" panose="020B0502020104020203" pitchFamily="34" charset="0"/>
              </a:rPr>
              <a:t>Use Case Name:</a:t>
            </a:r>
            <a:r>
              <a:rPr lang="en-US" altLang="ko-KR" sz="1800" dirty="0">
                <a:latin typeface="Gill Sans MT" panose="020B0502020104020203" pitchFamily="34" charset="0"/>
              </a:rPr>
              <a:t> Make Order Request</a:t>
            </a:r>
          </a:p>
          <a:p>
            <a:pPr eaLnBrk="1" hangingPunct="1">
              <a:spcBef>
                <a:spcPct val="0"/>
              </a:spcBef>
            </a:pPr>
            <a:r>
              <a:rPr lang="en-US" altLang="ko-KR" sz="1800" b="1" dirty="0">
                <a:latin typeface="Gill Sans MT" panose="020B0502020104020203" pitchFamily="34" charset="0"/>
              </a:rPr>
              <a:t>Summary: </a:t>
            </a:r>
            <a:r>
              <a:rPr lang="en-US" altLang="ko-KR" sz="1800" dirty="0">
                <a:latin typeface="Gill Sans MT" panose="020B0502020104020203" pitchFamily="34" charset="0"/>
              </a:rPr>
              <a:t>Customer enters an order request to purchase items from the online shopping system. The customer’s credit card is checked for sufficient credit to pay for the requested catalog items.</a:t>
            </a:r>
          </a:p>
          <a:p>
            <a:pPr eaLnBrk="1" hangingPunct="1">
              <a:spcBef>
                <a:spcPct val="0"/>
              </a:spcBef>
            </a:pPr>
            <a:r>
              <a:rPr lang="en-US" altLang="ko-KR" sz="1800" b="1" dirty="0">
                <a:latin typeface="Gill Sans MT" panose="020B0502020104020203" pitchFamily="34" charset="0"/>
              </a:rPr>
              <a:t>Actor:</a:t>
            </a:r>
            <a:r>
              <a:rPr lang="en-US" altLang="ko-KR" sz="1800" dirty="0">
                <a:latin typeface="Gill Sans MT" panose="020B0502020104020203" pitchFamily="34" charset="0"/>
              </a:rPr>
              <a:t> Customer</a:t>
            </a:r>
          </a:p>
          <a:p>
            <a:pPr eaLnBrk="1" hangingPunct="1">
              <a:spcBef>
                <a:spcPct val="0"/>
              </a:spcBef>
            </a:pPr>
            <a:r>
              <a:rPr lang="en-US" altLang="ko-KR" sz="1800" b="1" dirty="0">
                <a:latin typeface="Gill Sans MT" panose="020B0502020104020203" pitchFamily="34" charset="0"/>
              </a:rPr>
              <a:t>Precondition: </a:t>
            </a:r>
            <a:r>
              <a:rPr lang="en-US" altLang="ko-KR" sz="1800" dirty="0">
                <a:latin typeface="Gill Sans MT" panose="020B0502020104020203" pitchFamily="34" charset="0"/>
              </a:rPr>
              <a:t>The customer has selected one or more catalog items.</a:t>
            </a:r>
          </a:p>
          <a:p>
            <a:pPr eaLnBrk="1" hangingPunct="1">
              <a:spcBef>
                <a:spcPct val="0"/>
              </a:spcBef>
            </a:pPr>
            <a:r>
              <a:rPr lang="en-US" altLang="ko-KR" sz="1800" b="1" dirty="0">
                <a:latin typeface="Gill Sans MT" panose="020B0502020104020203" pitchFamily="34" charset="0"/>
              </a:rPr>
              <a:t>Description of main sequence: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1. Customer provides order request and customer account id to pay for purchase.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2. System retrieves customer account information, including the customer’s credit card details.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3. System checks the customer’s credit card for the purchase amount and, if approved, creates a credit card purchase authorization number.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4. System creates a delivery order containing order details, customer id, and credit card authorization #.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5. System confirms approval of purchase and displays order information to customer.</a:t>
            </a:r>
          </a:p>
        </p:txBody>
      </p:sp>
    </p:spTree>
    <p:extLst>
      <p:ext uri="{BB962C8B-B14F-4D97-AF65-F5344CB8AC3E}">
        <p14:creationId xmlns:p14="http://schemas.microsoft.com/office/powerpoint/2010/main" val="312352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Example of Use Case Documentation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b="1" dirty="0">
                <a:latin typeface="Gill Sans MT" panose="020B0502020104020203" pitchFamily="34" charset="0"/>
              </a:rPr>
              <a:t>Alternative sequences: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Step 2: If customer does not have account, the system creates an account.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Step 3: If the customer’s credit card request is denied, the system prompts the customer to enter a different credit card number. The customer can either enter a different credit card number or cancel the order.</a:t>
            </a:r>
          </a:p>
          <a:p>
            <a:pPr eaLnBrk="1" hangingPunct="1">
              <a:spcBef>
                <a:spcPct val="0"/>
              </a:spcBef>
            </a:pPr>
            <a:r>
              <a:rPr lang="en-US" altLang="ko-KR" sz="1800" b="1" dirty="0" err="1">
                <a:latin typeface="Gill Sans MT" panose="020B0502020104020203" pitchFamily="34" charset="0"/>
              </a:rPr>
              <a:t>Postcondition</a:t>
            </a:r>
            <a:r>
              <a:rPr lang="en-US" altLang="ko-KR" sz="1800" b="1" dirty="0">
                <a:latin typeface="Gill Sans MT" panose="020B0502020104020203" pitchFamily="34" charset="0"/>
              </a:rPr>
              <a:t>:</a:t>
            </a:r>
            <a:r>
              <a:rPr lang="en-US" altLang="ko-KR" sz="1800" dirty="0">
                <a:latin typeface="Gill Sans MT" panose="020B0502020104020203" pitchFamily="34" charset="0"/>
              </a:rPr>
              <a:t> System has created a delivery order for the customer.</a:t>
            </a:r>
          </a:p>
        </p:txBody>
      </p:sp>
    </p:spTree>
    <p:extLst>
      <p:ext uri="{BB962C8B-B14F-4D97-AF65-F5344CB8AC3E}">
        <p14:creationId xmlns:p14="http://schemas.microsoft.com/office/powerpoint/2010/main" val="3854016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Use Case Relationships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Extend and Include relationships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Avoid complexity of use case modeling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Maximize reuse of use cases</a:t>
            </a:r>
          </a:p>
          <a:p>
            <a:pPr lvl="1" eaLnBrk="1" hangingPunct="1">
              <a:spcBef>
                <a:spcPct val="0"/>
              </a:spcBef>
            </a:pPr>
            <a:endParaRPr lang="en-US" altLang="ko-KR" sz="1800" dirty="0">
              <a:latin typeface="Gill Sans MT" panose="020B0502020104020203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ko-KR" sz="1800" b="1" dirty="0">
                <a:latin typeface="Gill Sans MT" panose="020B0502020104020203" pitchFamily="34" charset="0"/>
              </a:rPr>
              <a:t>Include</a:t>
            </a:r>
            <a:r>
              <a:rPr lang="en-US" altLang="ko-KR" sz="1800" dirty="0">
                <a:latin typeface="Gill Sans MT" panose="020B0502020104020203" pitchFamily="34" charset="0"/>
              </a:rPr>
              <a:t> relationship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Identify common patterns (sequences) of interactions in several use cases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Extract common pattern into inclusion use case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Base use cases include inclusion use case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Inclusion use case might not have a specific actor</a:t>
            </a:r>
          </a:p>
        </p:txBody>
      </p:sp>
    </p:spTree>
    <p:extLst>
      <p:ext uri="{BB962C8B-B14F-4D97-AF65-F5344CB8AC3E}">
        <p14:creationId xmlns:p14="http://schemas.microsoft.com/office/powerpoint/2010/main" val="3153736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Use Case Relationships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Banking System actor and use cases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l="10656" t="58980" r="45628" b="10000"/>
          <a:stretch/>
        </p:blipFill>
        <p:spPr>
          <a:xfrm>
            <a:off x="1981200" y="2590800"/>
            <a:ext cx="5002213" cy="38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446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Use Case Relationships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Inclusion use case and include relationship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l="6284" t="51633" r="39508" b="14081"/>
          <a:stretch/>
        </p:blipFill>
        <p:spPr>
          <a:xfrm>
            <a:off x="1752601" y="2458065"/>
            <a:ext cx="5791200" cy="392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3890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Example of Inclusion Use Case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b="1" dirty="0">
                <a:latin typeface="Gill Sans MT" panose="020B0502020104020203" pitchFamily="34" charset="0"/>
              </a:rPr>
              <a:t>Use case name: </a:t>
            </a:r>
            <a:r>
              <a:rPr lang="en-US" altLang="ko-KR" sz="1800" dirty="0">
                <a:latin typeface="Gill Sans MT" panose="020B0502020104020203" pitchFamily="34" charset="0"/>
              </a:rPr>
              <a:t>Validate PIN.</a:t>
            </a:r>
          </a:p>
          <a:p>
            <a:pPr eaLnBrk="1" hangingPunct="1">
              <a:spcBef>
                <a:spcPct val="0"/>
              </a:spcBef>
            </a:pPr>
            <a:r>
              <a:rPr lang="en-US" altLang="ko-KR" sz="1800" b="1" dirty="0">
                <a:latin typeface="Gill Sans MT" panose="020B0502020104020203" pitchFamily="34" charset="0"/>
              </a:rPr>
              <a:t>Summary:</a:t>
            </a:r>
            <a:r>
              <a:rPr lang="en-US" altLang="ko-KR" sz="1800" dirty="0">
                <a:latin typeface="Gill Sans MT" panose="020B0502020104020203" pitchFamily="34" charset="0"/>
              </a:rPr>
              <a:t> System validates customer PIN.</a:t>
            </a:r>
          </a:p>
          <a:p>
            <a:pPr eaLnBrk="1" hangingPunct="1">
              <a:spcBef>
                <a:spcPct val="0"/>
              </a:spcBef>
            </a:pPr>
            <a:r>
              <a:rPr lang="en-US" altLang="ko-KR" sz="1800" b="1" dirty="0">
                <a:latin typeface="Gill Sans MT" panose="020B0502020104020203" pitchFamily="34" charset="0"/>
              </a:rPr>
              <a:t>Actor: </a:t>
            </a:r>
            <a:r>
              <a:rPr lang="en-US" altLang="ko-KR" sz="1800" dirty="0">
                <a:latin typeface="Gill Sans MT" panose="020B0502020104020203" pitchFamily="34" charset="0"/>
              </a:rPr>
              <a:t>ATM Customer.</a:t>
            </a:r>
          </a:p>
          <a:p>
            <a:pPr eaLnBrk="1" hangingPunct="1">
              <a:spcBef>
                <a:spcPct val="0"/>
              </a:spcBef>
            </a:pPr>
            <a:r>
              <a:rPr lang="en-US" altLang="ko-KR" sz="1800" b="1" dirty="0">
                <a:latin typeface="Gill Sans MT" panose="020B0502020104020203" pitchFamily="34" charset="0"/>
              </a:rPr>
              <a:t>Precondition: </a:t>
            </a:r>
            <a:r>
              <a:rPr lang="en-US" altLang="ko-KR" sz="1800" dirty="0">
                <a:latin typeface="Gill Sans MT" panose="020B0502020104020203" pitchFamily="34" charset="0"/>
              </a:rPr>
              <a:t>ATM is idle, displaying a “Welcome” message.</a:t>
            </a:r>
          </a:p>
          <a:p>
            <a:pPr eaLnBrk="1" hangingPunct="1">
              <a:spcBef>
                <a:spcPct val="0"/>
              </a:spcBef>
            </a:pPr>
            <a:r>
              <a:rPr lang="en-US" altLang="ko-KR" sz="1800" b="1" dirty="0">
                <a:latin typeface="Gill Sans MT" panose="020B0502020104020203" pitchFamily="34" charset="0"/>
              </a:rPr>
              <a:t>Description of main sequence: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1. Customer inserts the ATM card into the card reader.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2. If system recognizes the card, it reads the card number.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3. System prompts customer for PIN.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4. Customer enters PIN.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5. System checks the card’s expiration date and whether the card has been reported as lost or stolen.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6. If card is valid, system then checks whether the user-entered PIN matches the card PIN maintained by the system.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7. If PIN numbers match, system checks what accounts are accessible with the ATM card.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8. System displays customer accounts and prompts customer for transaction type:</a:t>
            </a:r>
          </a:p>
        </p:txBody>
      </p:sp>
    </p:spTree>
    <p:extLst>
      <p:ext uri="{BB962C8B-B14F-4D97-AF65-F5344CB8AC3E}">
        <p14:creationId xmlns:p14="http://schemas.microsoft.com/office/powerpoint/2010/main" val="23540699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Example of Inclusion Use Case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b="1" dirty="0">
                <a:latin typeface="Gill Sans MT" panose="020B0502020104020203" pitchFamily="34" charset="0"/>
              </a:rPr>
              <a:t>Alternatives: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Step 2: If the system does not recognize the card, the system ejects the card.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Step 5: If the system determines that the card date has expired, the system confiscates the card.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Step 5: If the system determines that the card has been reported lost or stolen, the system confiscates the card.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Step 7: If the customer entered PIN does not match the PIN number for this card, the system- </a:t>
            </a:r>
            <a:r>
              <a:rPr lang="en-US" altLang="ko-KR" sz="1800" dirty="0" err="1">
                <a:latin typeface="Gill Sans MT" panose="020B0502020104020203" pitchFamily="34" charset="0"/>
              </a:rPr>
              <a:t>reprompts</a:t>
            </a:r>
            <a:r>
              <a:rPr lang="en-US" altLang="ko-KR" sz="1800" dirty="0">
                <a:latin typeface="Gill Sans MT" panose="020B0502020104020203" pitchFamily="34" charset="0"/>
              </a:rPr>
              <a:t> for the PIN.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Step 7: If the customer enters the incorrect PIN three times, the system confiscates the card.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Steps 4-8: If the customer enters Cancel, the system cancels the transaction and ejects the card.</a:t>
            </a:r>
          </a:p>
        </p:txBody>
      </p:sp>
    </p:spTree>
    <p:extLst>
      <p:ext uri="{BB962C8B-B14F-4D97-AF65-F5344CB8AC3E}">
        <p14:creationId xmlns:p14="http://schemas.microsoft.com/office/powerpoint/2010/main" val="7352028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Example of Inclusion Use Case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b="1" dirty="0">
                <a:latin typeface="Gill Sans MT" panose="020B0502020104020203" pitchFamily="34" charset="0"/>
              </a:rPr>
              <a:t>Nonfunctional requirements:</a:t>
            </a:r>
            <a:r>
              <a:rPr lang="en-US" altLang="ko-KR" sz="1800" dirty="0">
                <a:latin typeface="Gill Sans MT" panose="020B0502020104020203" pitchFamily="34" charset="0"/>
              </a:rPr>
              <a:t>	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a) Security requirement: System shall encrypt ATM card number and PIN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b) Performance requirement: System shall respond to actor inputs within 5 seconds</a:t>
            </a:r>
          </a:p>
          <a:p>
            <a:pPr eaLnBrk="1" hangingPunct="1">
              <a:spcBef>
                <a:spcPct val="0"/>
              </a:spcBef>
            </a:pPr>
            <a:r>
              <a:rPr lang="en-US" altLang="ko-KR" sz="1800" b="1" dirty="0" err="1">
                <a:latin typeface="Gill Sans MT" panose="020B0502020104020203" pitchFamily="34" charset="0"/>
              </a:rPr>
              <a:t>Postcondition</a:t>
            </a:r>
            <a:r>
              <a:rPr lang="en-US" altLang="ko-KR" sz="1800" b="1" dirty="0">
                <a:latin typeface="Gill Sans MT" panose="020B0502020104020203" pitchFamily="34" charset="0"/>
              </a:rPr>
              <a:t>: </a:t>
            </a:r>
            <a:r>
              <a:rPr lang="en-US" altLang="ko-KR" sz="1800" dirty="0">
                <a:latin typeface="Gill Sans MT" panose="020B0502020104020203" pitchFamily="34" charset="0"/>
              </a:rPr>
              <a:t>Customer PIN has been validated.</a:t>
            </a:r>
          </a:p>
        </p:txBody>
      </p:sp>
    </p:spTree>
    <p:extLst>
      <p:ext uri="{BB962C8B-B14F-4D97-AF65-F5344CB8AC3E}">
        <p14:creationId xmlns:p14="http://schemas.microsoft.com/office/powerpoint/2010/main" val="503719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Example of Inclusion Use Case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b="1" dirty="0">
                <a:latin typeface="Gill Sans MT" panose="020B0502020104020203" pitchFamily="34" charset="0"/>
              </a:rPr>
              <a:t>Use Case Name: </a:t>
            </a:r>
            <a:r>
              <a:rPr lang="en-US" altLang="ko-KR" sz="1800" dirty="0">
                <a:latin typeface="Gill Sans MT" panose="020B0502020104020203" pitchFamily="34" charset="0"/>
              </a:rPr>
              <a:t>Withdraw Funds</a:t>
            </a:r>
          </a:p>
          <a:p>
            <a:pPr eaLnBrk="1" hangingPunct="1">
              <a:spcBef>
                <a:spcPct val="0"/>
              </a:spcBef>
            </a:pPr>
            <a:r>
              <a:rPr lang="en-US" altLang="ko-KR" sz="1800" b="1" dirty="0">
                <a:latin typeface="Gill Sans MT" panose="020B0502020104020203" pitchFamily="34" charset="0"/>
              </a:rPr>
              <a:t>Summary:</a:t>
            </a:r>
            <a:r>
              <a:rPr lang="en-US" altLang="ko-KR" sz="1800" dirty="0">
                <a:latin typeface="Gill Sans MT" panose="020B0502020104020203" pitchFamily="34" charset="0"/>
              </a:rPr>
              <a:t> Customer withdraws a specific amount of funds from a valid bank account.</a:t>
            </a:r>
          </a:p>
          <a:p>
            <a:pPr eaLnBrk="1" hangingPunct="1">
              <a:spcBef>
                <a:spcPct val="0"/>
              </a:spcBef>
            </a:pPr>
            <a:r>
              <a:rPr lang="en-US" altLang="ko-KR" sz="1800" b="1" dirty="0">
                <a:latin typeface="Gill Sans MT" panose="020B0502020104020203" pitchFamily="34" charset="0"/>
              </a:rPr>
              <a:t>Actor: </a:t>
            </a:r>
            <a:r>
              <a:rPr lang="en-US" altLang="ko-KR" sz="1800" dirty="0">
                <a:latin typeface="Gill Sans MT" panose="020B0502020104020203" pitchFamily="34" charset="0"/>
              </a:rPr>
              <a:t>ATM Customer</a:t>
            </a:r>
          </a:p>
          <a:p>
            <a:pPr eaLnBrk="1" hangingPunct="1">
              <a:spcBef>
                <a:spcPct val="0"/>
              </a:spcBef>
            </a:pPr>
            <a:r>
              <a:rPr lang="en-US" altLang="ko-KR" sz="1800" b="1" dirty="0">
                <a:latin typeface="Gill Sans MT" panose="020B0502020104020203" pitchFamily="34" charset="0"/>
              </a:rPr>
              <a:t>Dependency:</a:t>
            </a:r>
            <a:r>
              <a:rPr lang="en-US" altLang="ko-KR" sz="1800" dirty="0">
                <a:latin typeface="Gill Sans MT" panose="020B0502020104020203" pitchFamily="34" charset="0"/>
              </a:rPr>
              <a:t> Include Validate PIN use case.</a:t>
            </a:r>
          </a:p>
          <a:p>
            <a:pPr eaLnBrk="1" hangingPunct="1">
              <a:spcBef>
                <a:spcPct val="0"/>
              </a:spcBef>
            </a:pPr>
            <a:r>
              <a:rPr lang="en-US" altLang="ko-KR" sz="1800" b="1" dirty="0">
                <a:latin typeface="Gill Sans MT" panose="020B0502020104020203" pitchFamily="34" charset="0"/>
              </a:rPr>
              <a:t>Precondition:</a:t>
            </a:r>
            <a:r>
              <a:rPr lang="en-US" altLang="ko-KR" sz="1800" dirty="0">
                <a:latin typeface="Gill Sans MT" panose="020B0502020104020203" pitchFamily="34" charset="0"/>
              </a:rPr>
              <a:t> ATM is idle, displaying a Welcome message.</a:t>
            </a:r>
          </a:p>
          <a:p>
            <a:pPr eaLnBrk="1" hangingPunct="1">
              <a:spcBef>
                <a:spcPct val="0"/>
              </a:spcBef>
            </a:pPr>
            <a:r>
              <a:rPr lang="en-US" altLang="ko-KR" sz="1800" b="1" dirty="0">
                <a:latin typeface="Gill Sans MT" panose="020B0502020104020203" pitchFamily="34" charset="0"/>
              </a:rPr>
              <a:t>Description of main sequence: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b="1" dirty="0">
                <a:solidFill>
                  <a:srgbClr val="FF0000"/>
                </a:solidFill>
                <a:latin typeface="Gill Sans MT" panose="020B0502020104020203" pitchFamily="34" charset="0"/>
              </a:rPr>
              <a:t>1. Include Validate PIN use case.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2. Customer selects Withdrawal, enters the amount, and selects the account number.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3. System checks whether customer has enough funds in the account and whether the daily limit will not be exceeded.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4. If all checks are successful, system authorizes dispensing of cash.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5. System dispenses the cash amount.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6. System prints a receipt showing transaction number, transaction type, amount withdrawn, and account balance.</a:t>
            </a:r>
          </a:p>
        </p:txBody>
      </p:sp>
    </p:spTree>
    <p:extLst>
      <p:ext uri="{BB962C8B-B14F-4D97-AF65-F5344CB8AC3E}">
        <p14:creationId xmlns:p14="http://schemas.microsoft.com/office/powerpoint/2010/main" val="37952518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Example of Inclusion Use Case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7. System ejects card.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8. System displays Welcome message.</a:t>
            </a:r>
          </a:p>
          <a:p>
            <a:pPr eaLnBrk="1" hangingPunct="1">
              <a:spcBef>
                <a:spcPct val="0"/>
              </a:spcBef>
            </a:pPr>
            <a:r>
              <a:rPr lang="en-US" altLang="ko-KR" sz="1800" b="1" dirty="0">
                <a:latin typeface="Gill Sans MT" panose="020B0502020104020203" pitchFamily="34" charset="0"/>
              </a:rPr>
              <a:t>Alternatives: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Step 3: If the system determines the account number is invalid, then it displays an error message and ejects the card.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Step 3: If the system determines there are insufficient funds in the customer’s account, then it displays an apology and ejects the card.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Step 3: If the system determines the maximum allowable daily withdrawal amount has been exceeded, it displays an apology and ejects the card.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Step 4: If the ATM is out of funds, the system displays an apology, ejects the card, and shuts down the ATM.</a:t>
            </a:r>
          </a:p>
          <a:p>
            <a:pPr eaLnBrk="1" hangingPunct="1">
              <a:spcBef>
                <a:spcPct val="0"/>
              </a:spcBef>
            </a:pPr>
            <a:r>
              <a:rPr lang="en-US" altLang="ko-KR" sz="1800" b="1" dirty="0" err="1">
                <a:latin typeface="Gill Sans MT" panose="020B0502020104020203" pitchFamily="34" charset="0"/>
              </a:rPr>
              <a:t>Postcondition</a:t>
            </a:r>
            <a:r>
              <a:rPr lang="en-US" altLang="ko-KR" sz="1800" b="1" dirty="0">
                <a:latin typeface="Gill Sans MT" panose="020B0502020104020203" pitchFamily="34" charset="0"/>
              </a:rPr>
              <a:t>: </a:t>
            </a:r>
            <a:r>
              <a:rPr lang="en-US" altLang="ko-KR" sz="1800" dirty="0">
                <a:latin typeface="Gill Sans MT" panose="020B0502020104020203" pitchFamily="34" charset="0"/>
              </a:rPr>
              <a:t>Customer funds have been withdrawn.</a:t>
            </a:r>
          </a:p>
        </p:txBody>
      </p:sp>
    </p:spTree>
    <p:extLst>
      <p:ext uri="{BB962C8B-B14F-4D97-AF65-F5344CB8AC3E}">
        <p14:creationId xmlns:p14="http://schemas.microsoft.com/office/powerpoint/2010/main" val="30792780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Extend relationship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Extend relationship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Model alternative paths that a basic use case may take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A use case B extends a use case A at an extension point if the appropriate conditions hold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Base use case and extension use case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Extension point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The locations in the base use case at which an extension can be added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Designated in description for the base use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Same use case can be extended in different ways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Notation</a:t>
            </a:r>
          </a:p>
        </p:txBody>
      </p:sp>
    </p:spTree>
    <p:extLst>
      <p:ext uri="{BB962C8B-B14F-4D97-AF65-F5344CB8AC3E}">
        <p14:creationId xmlns:p14="http://schemas.microsoft.com/office/powerpoint/2010/main" val="36029114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Extend relationship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 sz="1800" dirty="0">
                <a:latin typeface="Gill Sans MT" panose="020B0502020104020203" pitchFamily="34" charset="0"/>
              </a:rPr>
              <a:t>Example of extend relationship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l="8907" t="48367" r="41257" b="30409"/>
          <a:stretch/>
        </p:blipFill>
        <p:spPr>
          <a:xfrm>
            <a:off x="1246187" y="2842126"/>
            <a:ext cx="6248399" cy="285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882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Extend relationship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r>
              <a:rPr lang="en-US" altLang="ko-KR" sz="1800" b="1" dirty="0">
                <a:latin typeface="Gill Sans MT" panose="020B0502020104020203" pitchFamily="34" charset="0"/>
              </a:rPr>
              <a:t>Use case name: </a:t>
            </a:r>
            <a:r>
              <a:rPr lang="en-US" altLang="ko-KR" sz="1800" dirty="0">
                <a:latin typeface="Gill Sans MT" panose="020B0502020104020203" pitchFamily="34" charset="0"/>
              </a:rPr>
              <a:t>Check Out Customer.</a:t>
            </a:r>
          </a:p>
          <a:p>
            <a:r>
              <a:rPr lang="en-US" altLang="ko-KR" sz="1800" b="1" dirty="0">
                <a:latin typeface="Gill Sans MT" panose="020B0502020104020203" pitchFamily="34" charset="0"/>
              </a:rPr>
              <a:t>Summary: </a:t>
            </a:r>
            <a:r>
              <a:rPr lang="en-US" altLang="ko-KR" sz="1800" dirty="0">
                <a:latin typeface="Gill Sans MT" panose="020B0502020104020203" pitchFamily="34" charset="0"/>
              </a:rPr>
              <a:t>System checks out customer.</a:t>
            </a:r>
          </a:p>
          <a:p>
            <a:r>
              <a:rPr lang="en-US" altLang="ko-KR" sz="1800" b="1" dirty="0">
                <a:latin typeface="Gill Sans MT" panose="020B0502020104020203" pitchFamily="34" charset="0"/>
              </a:rPr>
              <a:t>Actor: </a:t>
            </a:r>
            <a:r>
              <a:rPr lang="en-US" altLang="ko-KR" sz="1800" dirty="0">
                <a:latin typeface="Gill Sans MT" panose="020B0502020104020203" pitchFamily="34" charset="0"/>
              </a:rPr>
              <a:t>Customer.</a:t>
            </a:r>
          </a:p>
          <a:p>
            <a:r>
              <a:rPr lang="en-US" altLang="ko-KR" sz="1800" b="1" dirty="0">
                <a:latin typeface="Gill Sans MT" panose="020B0502020104020203" pitchFamily="34" charset="0"/>
              </a:rPr>
              <a:t>Precondition: </a:t>
            </a:r>
            <a:r>
              <a:rPr lang="en-US" altLang="ko-KR" sz="1800" dirty="0">
                <a:latin typeface="Gill Sans MT" panose="020B0502020104020203" pitchFamily="34" charset="0"/>
              </a:rPr>
              <a:t>Checkout station is idle, displaying a “Welcome” message.</a:t>
            </a:r>
          </a:p>
          <a:p>
            <a:r>
              <a:rPr lang="en-US" altLang="ko-KR" sz="1800" b="1" dirty="0">
                <a:latin typeface="Gill Sans MT" panose="020B0502020104020203" pitchFamily="34" charset="0"/>
              </a:rPr>
              <a:t>Description of main sequence:</a:t>
            </a:r>
          </a:p>
          <a:p>
            <a:pPr lvl="1"/>
            <a:r>
              <a:rPr lang="en-US" altLang="ko-KR" sz="1800" dirty="0">
                <a:latin typeface="Gill Sans MT" panose="020B0502020104020203" pitchFamily="34" charset="0"/>
              </a:rPr>
              <a:t>1. Customer scans selected item.</a:t>
            </a:r>
          </a:p>
          <a:p>
            <a:pPr lvl="1"/>
            <a:r>
              <a:rPr lang="en-US" altLang="ko-KR" sz="1800" dirty="0">
                <a:latin typeface="Gill Sans MT" panose="020B0502020104020203" pitchFamily="34" charset="0"/>
              </a:rPr>
              <a:t>2. System displays the item name, price, and cumulative total.</a:t>
            </a:r>
          </a:p>
          <a:p>
            <a:pPr lvl="1"/>
            <a:r>
              <a:rPr lang="en-US" altLang="ko-KR" sz="1800" dirty="0">
                <a:latin typeface="Gill Sans MT" panose="020B0502020104020203" pitchFamily="34" charset="0"/>
              </a:rPr>
              <a:t>3. Customer repeats steps 1 and 2 for each item being purchased.</a:t>
            </a:r>
          </a:p>
          <a:p>
            <a:pPr lvl="1"/>
            <a:r>
              <a:rPr lang="en-US" altLang="ko-KR" sz="1800" dirty="0">
                <a:latin typeface="Gill Sans MT" panose="020B0502020104020203" pitchFamily="34" charset="0"/>
              </a:rPr>
              <a:t>4. Customer selects payment.</a:t>
            </a:r>
          </a:p>
          <a:p>
            <a:pPr lvl="1"/>
            <a:r>
              <a:rPr lang="en-US" altLang="ko-KR" sz="1800" dirty="0">
                <a:latin typeface="Gill Sans MT" panose="020B0502020104020203" pitchFamily="34" charset="0"/>
              </a:rPr>
              <a:t>5. System prompts for payment by cash, credit card, or debit card.</a:t>
            </a:r>
          </a:p>
          <a:p>
            <a:pPr lvl="1"/>
            <a:r>
              <a:rPr lang="en-US" altLang="ko-KR" sz="1800" b="1" dirty="0">
                <a:latin typeface="Gill Sans MT" panose="020B0502020104020203" pitchFamily="34" charset="0"/>
              </a:rPr>
              <a:t>6. &lt;payment&gt;</a:t>
            </a:r>
          </a:p>
          <a:p>
            <a:pPr lvl="1"/>
            <a:r>
              <a:rPr lang="en-US" altLang="ko-KR" sz="1800" dirty="0">
                <a:latin typeface="Gill Sans MT" panose="020B0502020104020203" pitchFamily="34" charset="0"/>
              </a:rPr>
              <a:t>7. System displays thank-you screen.</a:t>
            </a:r>
          </a:p>
          <a:p>
            <a:r>
              <a:rPr lang="en-US" altLang="ko-KR" sz="2000" b="1" dirty="0">
                <a:latin typeface="Gill Sans MT" panose="020B0502020104020203" pitchFamily="34" charset="0"/>
              </a:rPr>
              <a:t>Alternatives:…..</a:t>
            </a:r>
          </a:p>
          <a:p>
            <a:r>
              <a:rPr lang="en-US" altLang="ko-KR" sz="2000" b="1" dirty="0">
                <a:latin typeface="Gill Sans MT" panose="020B0502020104020203" pitchFamily="34" charset="0"/>
              </a:rPr>
              <a:t>Post condition:…..</a:t>
            </a:r>
          </a:p>
          <a:p>
            <a:endParaRPr lang="en-US" altLang="ko-KR" sz="22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9010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Extend relationship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1981200"/>
            <a:ext cx="7413625" cy="4419600"/>
          </a:xfrm>
        </p:spPr>
        <p:txBody>
          <a:bodyPr/>
          <a:lstStyle/>
          <a:p>
            <a:r>
              <a:rPr lang="en-US" altLang="ko-KR" sz="1800" b="1" dirty="0">
                <a:latin typeface="Gill Sans MT" panose="020B0502020104020203" pitchFamily="34" charset="0"/>
              </a:rPr>
              <a:t>Use case name: </a:t>
            </a:r>
            <a:r>
              <a:rPr lang="en-US" altLang="ko-KR" sz="1800" dirty="0">
                <a:latin typeface="Gill Sans MT" panose="020B0502020104020203" pitchFamily="34" charset="0"/>
              </a:rPr>
              <a:t>Pay by Cash.</a:t>
            </a:r>
          </a:p>
          <a:p>
            <a:r>
              <a:rPr lang="en-US" altLang="ko-KR" sz="1800" b="1" dirty="0">
                <a:latin typeface="Gill Sans MT" panose="020B0502020104020203" pitchFamily="34" charset="0"/>
              </a:rPr>
              <a:t>Summary: </a:t>
            </a:r>
            <a:r>
              <a:rPr lang="en-US" altLang="ko-KR" sz="1800" dirty="0">
                <a:latin typeface="Gill Sans MT" panose="020B0502020104020203" pitchFamily="34" charset="0"/>
              </a:rPr>
              <a:t>Customer pays by cash for items purchased.</a:t>
            </a:r>
          </a:p>
          <a:p>
            <a:r>
              <a:rPr lang="en-US" altLang="ko-KR" sz="1800" b="1" dirty="0">
                <a:latin typeface="Gill Sans MT" panose="020B0502020104020203" pitchFamily="34" charset="0"/>
              </a:rPr>
              <a:t>Actor: </a:t>
            </a:r>
            <a:r>
              <a:rPr lang="en-US" altLang="ko-KR" sz="1800" dirty="0">
                <a:latin typeface="Gill Sans MT" panose="020B0502020104020203" pitchFamily="34" charset="0"/>
              </a:rPr>
              <a:t>Customer.</a:t>
            </a:r>
          </a:p>
          <a:p>
            <a:r>
              <a:rPr lang="en-US" altLang="ko-KR" sz="1800" b="1" dirty="0">
                <a:latin typeface="Gill Sans MT" panose="020B0502020104020203" pitchFamily="34" charset="0"/>
              </a:rPr>
              <a:t>Dependency: </a:t>
            </a:r>
            <a:r>
              <a:rPr lang="en-US" altLang="ko-KR" sz="1800" dirty="0">
                <a:latin typeface="Gill Sans MT" panose="020B0502020104020203" pitchFamily="34" charset="0"/>
              </a:rPr>
              <a:t>Extends Check Out Customer.</a:t>
            </a:r>
          </a:p>
          <a:p>
            <a:r>
              <a:rPr lang="en-US" altLang="ko-KR" sz="1800" b="1" dirty="0">
                <a:latin typeface="Gill Sans MT" panose="020B0502020104020203" pitchFamily="34" charset="0"/>
              </a:rPr>
              <a:t>Precondition: </a:t>
            </a:r>
            <a:r>
              <a:rPr lang="en-US" altLang="ko-KR" sz="1800" dirty="0">
                <a:latin typeface="Gill Sans MT" panose="020B0502020104020203" pitchFamily="34" charset="0"/>
              </a:rPr>
              <a:t>Customer has scanned items but not yet paid for them.</a:t>
            </a:r>
          </a:p>
          <a:p>
            <a:r>
              <a:rPr lang="en-US" altLang="ko-KR" sz="1800" b="1" dirty="0">
                <a:latin typeface="Gill Sans MT" panose="020B0502020104020203" pitchFamily="34" charset="0"/>
              </a:rPr>
              <a:t>Description:</a:t>
            </a:r>
          </a:p>
          <a:p>
            <a:pPr lvl="1"/>
            <a:r>
              <a:rPr lang="en-US" altLang="ko-KR" sz="1800" dirty="0">
                <a:latin typeface="Gill Sans MT" panose="020B0502020104020203" pitchFamily="34" charset="0"/>
              </a:rPr>
              <a:t>1. Customer selects payment by cash.</a:t>
            </a:r>
          </a:p>
          <a:p>
            <a:pPr lvl="1"/>
            <a:r>
              <a:rPr lang="en-US" altLang="ko-KR" sz="1800" dirty="0">
                <a:latin typeface="Gill Sans MT" panose="020B0502020104020203" pitchFamily="34" charset="0"/>
              </a:rPr>
              <a:t>2. System prompts customer to deposit cash in bills and/or coins.</a:t>
            </a:r>
          </a:p>
          <a:p>
            <a:pPr lvl="1"/>
            <a:r>
              <a:rPr lang="en-US" altLang="ko-KR" sz="1800" dirty="0">
                <a:latin typeface="Gill Sans MT" panose="020B0502020104020203" pitchFamily="34" charset="0"/>
              </a:rPr>
              <a:t>3. Customer enters cash amount.</a:t>
            </a:r>
          </a:p>
          <a:p>
            <a:pPr lvl="1"/>
            <a:r>
              <a:rPr lang="en-US" altLang="ko-KR" sz="1800" dirty="0">
                <a:latin typeface="Gill Sans MT" panose="020B0502020104020203" pitchFamily="34" charset="0"/>
              </a:rPr>
              <a:t>4. System computes change.</a:t>
            </a:r>
          </a:p>
          <a:p>
            <a:pPr lvl="1"/>
            <a:r>
              <a:rPr lang="en-US" altLang="ko-KR" sz="1800" dirty="0">
                <a:latin typeface="Gill Sans MT" panose="020B0502020104020203" pitchFamily="34" charset="0"/>
              </a:rPr>
              <a:t>5. System displays total amount due, cash payment, and change.</a:t>
            </a:r>
          </a:p>
          <a:p>
            <a:pPr lvl="1"/>
            <a:r>
              <a:rPr lang="en-US" altLang="ko-KR" sz="1800" dirty="0">
                <a:latin typeface="Gill Sans MT" panose="020B0502020104020203" pitchFamily="34" charset="0"/>
              </a:rPr>
              <a:t>6. System prints total amount due, cash payment, and change on receipt.</a:t>
            </a:r>
          </a:p>
          <a:p>
            <a:r>
              <a:rPr lang="en-US" altLang="ko-KR" sz="1800" b="1" dirty="0">
                <a:latin typeface="Gill Sans MT" panose="020B0502020104020203" pitchFamily="34" charset="0"/>
              </a:rPr>
              <a:t>Alternatives:…..</a:t>
            </a:r>
          </a:p>
          <a:p>
            <a:r>
              <a:rPr lang="en-US" altLang="ko-KR" sz="1800" b="1" dirty="0">
                <a:latin typeface="Gill Sans MT" panose="020B0502020104020203" pitchFamily="34" charset="0"/>
              </a:rPr>
              <a:t>Post condition:…..</a:t>
            </a:r>
          </a:p>
          <a:p>
            <a:pPr lvl="1"/>
            <a:endParaRPr lang="en-US" altLang="ko-KR" sz="18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3328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Extend relationship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r>
              <a:rPr lang="en-US" altLang="ko-KR" sz="1800" b="1" dirty="0">
                <a:latin typeface="Gill Sans MT" panose="020B0502020104020203" pitchFamily="34" charset="0"/>
              </a:rPr>
              <a:t>Use case name:</a:t>
            </a:r>
            <a:r>
              <a:rPr lang="en-US" altLang="ko-KR" sz="1800" dirty="0">
                <a:latin typeface="Gill Sans MT" panose="020B0502020104020203" pitchFamily="34" charset="0"/>
              </a:rPr>
              <a:t> Pay by Credit Card.</a:t>
            </a:r>
          </a:p>
          <a:p>
            <a:r>
              <a:rPr lang="en-US" altLang="ko-KR" sz="1800" b="1" dirty="0">
                <a:latin typeface="Gill Sans MT" panose="020B0502020104020203" pitchFamily="34" charset="0"/>
              </a:rPr>
              <a:t>Summary: </a:t>
            </a:r>
            <a:r>
              <a:rPr lang="en-US" altLang="ko-KR" sz="1800" dirty="0">
                <a:latin typeface="Gill Sans MT" panose="020B0502020104020203" pitchFamily="34" charset="0"/>
              </a:rPr>
              <a:t>Customer pays by credit card for items purchased.</a:t>
            </a:r>
          </a:p>
          <a:p>
            <a:r>
              <a:rPr lang="en-US" altLang="ko-KR" sz="1800" b="1" dirty="0">
                <a:latin typeface="Gill Sans MT" panose="020B0502020104020203" pitchFamily="34" charset="0"/>
              </a:rPr>
              <a:t>Actor: </a:t>
            </a:r>
            <a:r>
              <a:rPr lang="en-US" altLang="ko-KR" sz="1800" dirty="0">
                <a:latin typeface="Gill Sans MT" panose="020B0502020104020203" pitchFamily="34" charset="0"/>
              </a:rPr>
              <a:t>Customer.</a:t>
            </a:r>
          </a:p>
          <a:p>
            <a:r>
              <a:rPr lang="en-US" altLang="ko-KR" sz="1800" b="1" dirty="0">
                <a:latin typeface="Gill Sans MT" panose="020B0502020104020203" pitchFamily="34" charset="0"/>
              </a:rPr>
              <a:t>Dependency: </a:t>
            </a:r>
            <a:r>
              <a:rPr lang="en-US" altLang="ko-KR" sz="1800" dirty="0">
                <a:latin typeface="Gill Sans MT" panose="020B0502020104020203" pitchFamily="34" charset="0"/>
              </a:rPr>
              <a:t>Extends Check Out Customer.</a:t>
            </a:r>
          </a:p>
          <a:p>
            <a:r>
              <a:rPr lang="en-US" altLang="ko-KR" sz="1800" b="1" dirty="0">
                <a:latin typeface="Gill Sans MT" panose="020B0502020104020203" pitchFamily="34" charset="0"/>
              </a:rPr>
              <a:t>Precondition: </a:t>
            </a:r>
            <a:r>
              <a:rPr lang="en-US" altLang="ko-KR" sz="1800" dirty="0">
                <a:latin typeface="Gill Sans MT" panose="020B0502020104020203" pitchFamily="34" charset="0"/>
              </a:rPr>
              <a:t>Customer has scanned items but not yet paid for them.</a:t>
            </a:r>
            <a:endParaRPr lang="en-US" altLang="ko-KR" sz="1800" b="1" dirty="0">
              <a:latin typeface="Gill Sans MT" panose="020B0502020104020203" pitchFamily="34" charset="0"/>
            </a:endParaRPr>
          </a:p>
          <a:p>
            <a:r>
              <a:rPr lang="en-US" altLang="ko-KR" sz="1800" b="1" dirty="0">
                <a:latin typeface="Gill Sans MT" panose="020B0502020104020203" pitchFamily="34" charset="0"/>
              </a:rPr>
              <a:t>Description:</a:t>
            </a:r>
          </a:p>
          <a:p>
            <a:pPr lvl="1"/>
            <a:r>
              <a:rPr lang="en-US" altLang="ko-KR" sz="1800" dirty="0">
                <a:latin typeface="Gill Sans MT" panose="020B0502020104020203" pitchFamily="34" charset="0"/>
              </a:rPr>
              <a:t>1. Customer selects payment by credit card.</a:t>
            </a:r>
          </a:p>
          <a:p>
            <a:pPr lvl="1"/>
            <a:r>
              <a:rPr lang="en-US" altLang="ko-KR" sz="1800" dirty="0">
                <a:latin typeface="Gill Sans MT" panose="020B0502020104020203" pitchFamily="34" charset="0"/>
              </a:rPr>
              <a:t>2. System prompts customer to swipe card.</a:t>
            </a:r>
          </a:p>
          <a:p>
            <a:pPr lvl="1"/>
            <a:r>
              <a:rPr lang="en-US" altLang="ko-KR" sz="1800" dirty="0">
                <a:latin typeface="Gill Sans MT" panose="020B0502020104020203" pitchFamily="34" charset="0"/>
              </a:rPr>
              <a:t>3. Customer swipes card.</a:t>
            </a:r>
          </a:p>
          <a:p>
            <a:pPr lvl="1"/>
            <a:r>
              <a:rPr lang="en-US" altLang="ko-KR" sz="1800" dirty="0">
                <a:latin typeface="Gill Sans MT" panose="020B0502020104020203" pitchFamily="34" charset="0"/>
              </a:rPr>
              <a:t>4. System reads card ID and expiration date.</a:t>
            </a:r>
          </a:p>
          <a:p>
            <a:pPr lvl="1"/>
            <a:r>
              <a:rPr lang="en-US" altLang="ko-KR" sz="1800" dirty="0">
                <a:latin typeface="Gill Sans MT" panose="020B0502020104020203" pitchFamily="34" charset="0"/>
              </a:rPr>
              <a:t>5. System sends transaction to authorization center containing card ID, expiration date, and payment amount.</a:t>
            </a:r>
          </a:p>
          <a:p>
            <a:pPr lvl="1"/>
            <a:endParaRPr lang="en-US" altLang="ko-KR" sz="18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09304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Extend relationship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pPr lvl="1"/>
            <a:r>
              <a:rPr lang="en-US" altLang="ko-KR" sz="1800" dirty="0">
                <a:latin typeface="Gill Sans MT" panose="020B0502020104020203" pitchFamily="34" charset="0"/>
              </a:rPr>
              <a:t>6. If transaction is approved, authorization center returns positive confirmation.</a:t>
            </a:r>
          </a:p>
          <a:p>
            <a:pPr lvl="1"/>
            <a:r>
              <a:rPr lang="en-US" altLang="ko-KR" sz="1800" dirty="0">
                <a:latin typeface="Gill Sans MT" panose="020B0502020104020203" pitchFamily="34" charset="0"/>
              </a:rPr>
              <a:t>7. System displays payment amount and confirmation.</a:t>
            </a:r>
          </a:p>
          <a:p>
            <a:pPr lvl="1"/>
            <a:r>
              <a:rPr lang="en-US" altLang="ko-KR" sz="1800" dirty="0">
                <a:latin typeface="Gill Sans MT" panose="020B0502020104020203" pitchFamily="34" charset="0"/>
              </a:rPr>
              <a:t>8. System prints payment amount and confirmation on receipt.</a:t>
            </a:r>
          </a:p>
          <a:p>
            <a:r>
              <a:rPr lang="en-US" altLang="ko-KR" sz="1800" b="1" dirty="0">
                <a:latin typeface="Gill Sans MT" panose="020B0502020104020203" pitchFamily="34" charset="0"/>
              </a:rPr>
              <a:t>Alternatives:…..</a:t>
            </a:r>
          </a:p>
          <a:p>
            <a:r>
              <a:rPr lang="en-US" altLang="ko-KR" sz="1800" b="1" dirty="0">
                <a:latin typeface="Gill Sans MT" panose="020B0502020104020203" pitchFamily="34" charset="0"/>
              </a:rPr>
              <a:t>Post condition:…..</a:t>
            </a:r>
          </a:p>
          <a:p>
            <a:pPr lvl="1"/>
            <a:endParaRPr lang="en-US" altLang="ko-KR" sz="18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4020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Non-Functional Requirements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r>
              <a:rPr lang="en-US" altLang="ko-KR" sz="1800" dirty="0">
                <a:latin typeface="Gill Sans MT" panose="020B0502020104020203" pitchFamily="34" charset="0"/>
              </a:rPr>
              <a:t>Quality of service goal that system must fulfill</a:t>
            </a:r>
          </a:p>
          <a:p>
            <a:pPr lvl="1"/>
            <a:r>
              <a:rPr lang="en-US" altLang="ko-KR" sz="1800" dirty="0">
                <a:latin typeface="Gill Sans MT" panose="020B0502020104020203" pitchFamily="34" charset="0"/>
              </a:rPr>
              <a:t>Also called software quality attribute</a:t>
            </a:r>
          </a:p>
          <a:p>
            <a:pPr lvl="1"/>
            <a:r>
              <a:rPr lang="en-US" altLang="ko-KR" sz="1800" dirty="0">
                <a:latin typeface="Gill Sans MT" panose="020B0502020104020203" pitchFamily="34" charset="0"/>
              </a:rPr>
              <a:t>Should be measurable</a:t>
            </a:r>
          </a:p>
          <a:p>
            <a:r>
              <a:rPr lang="en-US" altLang="ko-KR" sz="1800" dirty="0">
                <a:latin typeface="Gill Sans MT" panose="020B0502020104020203" pitchFamily="34" charset="0"/>
              </a:rPr>
              <a:t>Some Non-Functional Requirements</a:t>
            </a:r>
          </a:p>
          <a:p>
            <a:pPr lvl="1"/>
            <a:r>
              <a:rPr lang="en-US" altLang="ko-KR" sz="1800" dirty="0">
                <a:latin typeface="Gill Sans MT" panose="020B0502020104020203" pitchFamily="34" charset="0"/>
              </a:rPr>
              <a:t>Availability Requirement</a:t>
            </a:r>
          </a:p>
          <a:p>
            <a:pPr lvl="1"/>
            <a:r>
              <a:rPr lang="en-US" altLang="ko-KR" sz="1800" dirty="0">
                <a:latin typeface="Gill Sans MT" panose="020B0502020104020203" pitchFamily="34" charset="0"/>
              </a:rPr>
              <a:t>Performance Requirement</a:t>
            </a:r>
          </a:p>
          <a:p>
            <a:pPr lvl="1"/>
            <a:r>
              <a:rPr lang="en-US" altLang="ko-KR" sz="1800" dirty="0">
                <a:latin typeface="Gill Sans MT" panose="020B0502020104020203" pitchFamily="34" charset="0"/>
              </a:rPr>
              <a:t>Security Requirement</a:t>
            </a:r>
          </a:p>
          <a:p>
            <a:pPr lvl="1"/>
            <a:r>
              <a:rPr lang="en-US" altLang="ko-KR" sz="1800" dirty="0">
                <a:latin typeface="Gill Sans MT" panose="020B0502020104020203" pitchFamily="34" charset="0"/>
              </a:rPr>
              <a:t>Scalability Requirement</a:t>
            </a:r>
          </a:p>
        </p:txBody>
      </p:sp>
    </p:spTree>
    <p:extLst>
      <p:ext uri="{BB962C8B-B14F-4D97-AF65-F5344CB8AC3E}">
        <p14:creationId xmlns:p14="http://schemas.microsoft.com/office/powerpoint/2010/main" val="24974340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BD7BC7-86C6-4067-B924-7F3C624CF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5588" y="762000"/>
            <a:ext cx="7088187" cy="771525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latin typeface="Gill Sans MT" panose="020B0502020104020203" pitchFamily="34" charset="0"/>
              </a:rPr>
              <a:t>Non-Functional Requirements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5F61E5-64AF-4613-B252-1033BC113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3575" y="2057400"/>
            <a:ext cx="7413625" cy="4419600"/>
          </a:xfrm>
        </p:spPr>
        <p:txBody>
          <a:bodyPr/>
          <a:lstStyle/>
          <a:p>
            <a:r>
              <a:rPr lang="en-US" altLang="ko-KR" sz="1800" dirty="0">
                <a:latin typeface="Gill Sans MT" panose="020B0502020104020203" pitchFamily="34" charset="0"/>
              </a:rPr>
              <a:t>Availability Requirement</a:t>
            </a:r>
          </a:p>
          <a:p>
            <a:pPr lvl="1"/>
            <a:r>
              <a:rPr lang="en-US" altLang="ko-KR" sz="1800" dirty="0">
                <a:latin typeface="Gill Sans MT" panose="020B0502020104020203" pitchFamily="34" charset="0"/>
              </a:rPr>
              <a:t>Extent to which system is operational for users</a:t>
            </a:r>
          </a:p>
          <a:p>
            <a:pPr lvl="2"/>
            <a:r>
              <a:rPr lang="en-US" altLang="ko-KR" sz="1800" dirty="0">
                <a:latin typeface="Gill Sans MT" panose="020B0502020104020203" pitchFamily="34" charset="0"/>
              </a:rPr>
              <a:t>E.g., system shall be operational for 99% of time</a:t>
            </a:r>
          </a:p>
          <a:p>
            <a:r>
              <a:rPr lang="en-US" altLang="ko-KR" sz="1800" dirty="0">
                <a:latin typeface="Gill Sans MT" panose="020B0502020104020203" pitchFamily="34" charset="0"/>
              </a:rPr>
              <a:t>Performance Requirement</a:t>
            </a:r>
          </a:p>
          <a:p>
            <a:pPr lvl="1"/>
            <a:r>
              <a:rPr lang="en-US" altLang="ko-KR" sz="1800" dirty="0">
                <a:latin typeface="Gill Sans MT" panose="020B0502020104020203" pitchFamily="34" charset="0"/>
              </a:rPr>
              <a:t>System throughput and/or response time goal</a:t>
            </a:r>
          </a:p>
          <a:p>
            <a:pPr lvl="2"/>
            <a:r>
              <a:rPr lang="en-US" altLang="ko-KR" sz="1800" dirty="0">
                <a:latin typeface="Gill Sans MT" panose="020B0502020104020203" pitchFamily="34" charset="0"/>
              </a:rPr>
              <a:t>E.g., system response to user inputs shall not exceed 2 seconds</a:t>
            </a:r>
          </a:p>
          <a:p>
            <a:r>
              <a:rPr lang="en-US" altLang="ko-KR" sz="1800" dirty="0">
                <a:latin typeface="Gill Sans MT" panose="020B0502020104020203" pitchFamily="34" charset="0"/>
              </a:rPr>
              <a:t>Security requirement</a:t>
            </a:r>
          </a:p>
          <a:p>
            <a:pPr lvl="1"/>
            <a:r>
              <a:rPr lang="en-US" altLang="ko-KR" sz="1800" dirty="0">
                <a:latin typeface="Gill Sans MT" panose="020B0502020104020203" pitchFamily="34" charset="0"/>
              </a:rPr>
              <a:t>Ability to protect information and system resources</a:t>
            </a:r>
          </a:p>
          <a:p>
            <a:pPr lvl="2"/>
            <a:r>
              <a:rPr lang="en-US" altLang="ko-KR" sz="1800" dirty="0">
                <a:latin typeface="Gill Sans MT" panose="020B0502020104020203" pitchFamily="34" charset="0"/>
              </a:rPr>
              <a:t>E.g., system shall encrypt ATM Card Id and PIN</a:t>
            </a:r>
          </a:p>
          <a:p>
            <a:r>
              <a:rPr lang="en-US" altLang="ko-KR" sz="1800" dirty="0">
                <a:latin typeface="Gill Sans MT" panose="020B0502020104020203" pitchFamily="34" charset="0"/>
              </a:rPr>
              <a:t>Scalability requirement</a:t>
            </a:r>
          </a:p>
          <a:p>
            <a:pPr lvl="1"/>
            <a:r>
              <a:rPr lang="en-US" altLang="ko-KR" sz="1800" dirty="0">
                <a:latin typeface="Gill Sans MT" panose="020B0502020104020203" pitchFamily="34" charset="0"/>
              </a:rPr>
              <a:t>Capability of system to grow beyond initial system deployment (installation)</a:t>
            </a:r>
          </a:p>
          <a:p>
            <a:pPr lvl="2"/>
            <a:r>
              <a:rPr lang="en-US" altLang="ko-KR" sz="1800" dirty="0">
                <a:latin typeface="Gill Sans MT" panose="020B0502020104020203" pitchFamily="34" charset="0"/>
              </a:rPr>
              <a:t>CPU, main memory, and secondary storage shall be capable of expansion of 30% after initial system deployment</a:t>
            </a:r>
          </a:p>
        </p:txBody>
      </p:sp>
    </p:spTree>
    <p:extLst>
      <p:ext uri="{BB962C8B-B14F-4D97-AF65-F5344CB8AC3E}">
        <p14:creationId xmlns:p14="http://schemas.microsoft.com/office/powerpoint/2010/main" val="2900606449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굴림"/>
        <a:cs typeface=""/>
      </a:majorFont>
      <a:minorFont>
        <a:latin typeface="Times New Roman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굴림" panose="020B0600000101010101" pitchFamily="50" charset="-127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60894</TotalTime>
  <Words>1948</Words>
  <Application>Microsoft Macintosh PowerPoint</Application>
  <PresentationFormat>On-screen Show (4:3)</PresentationFormat>
  <Paragraphs>258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Arial</vt:lpstr>
      <vt:lpstr>gall sant</vt:lpstr>
      <vt:lpstr>Gill Sans MT</vt:lpstr>
      <vt:lpstr>Lucida Grande</vt:lpstr>
      <vt:lpstr>Tahoma</vt:lpstr>
      <vt:lpstr>Times New Roman</vt:lpstr>
      <vt:lpstr>Verdana</vt:lpstr>
      <vt:lpstr>Wingdings</vt:lpstr>
      <vt:lpstr>Blends</vt:lpstr>
      <vt:lpstr>Custom Design</vt:lpstr>
      <vt:lpstr>Phase 1: Requirement Specification</vt:lpstr>
      <vt:lpstr>Use Case Modeling</vt:lpstr>
      <vt:lpstr>Use Case Modeling</vt:lpstr>
      <vt:lpstr>Actors</vt:lpstr>
      <vt:lpstr>Actors</vt:lpstr>
      <vt:lpstr>Actors</vt:lpstr>
      <vt:lpstr>Actors</vt:lpstr>
      <vt:lpstr>Actors</vt:lpstr>
      <vt:lpstr>Actors</vt:lpstr>
      <vt:lpstr>Use cases</vt:lpstr>
      <vt:lpstr>Use cases</vt:lpstr>
      <vt:lpstr>Use cases</vt:lpstr>
      <vt:lpstr>Use cases</vt:lpstr>
      <vt:lpstr>Documenting Use cases</vt:lpstr>
      <vt:lpstr>Documenting Use cases</vt:lpstr>
      <vt:lpstr>Example of Use Case Documentation</vt:lpstr>
      <vt:lpstr>Example of Use Case Documentation</vt:lpstr>
      <vt:lpstr>Use Case Relationships</vt:lpstr>
      <vt:lpstr>Use Case Relationships</vt:lpstr>
      <vt:lpstr>Use Case Relationships</vt:lpstr>
      <vt:lpstr>Example of Inclusion Use Case</vt:lpstr>
      <vt:lpstr>Example of Inclusion Use Case</vt:lpstr>
      <vt:lpstr>Example of Inclusion Use Case</vt:lpstr>
      <vt:lpstr>Example of Inclusion Use Case</vt:lpstr>
      <vt:lpstr>Example of Inclusion Use Case</vt:lpstr>
      <vt:lpstr>Extend relationship</vt:lpstr>
      <vt:lpstr>Extend relationship</vt:lpstr>
      <vt:lpstr>Extend relationship</vt:lpstr>
      <vt:lpstr>Extend relationship</vt:lpstr>
      <vt:lpstr>Extend relationship</vt:lpstr>
      <vt:lpstr>Extend relationship</vt:lpstr>
      <vt:lpstr>Non-Functional Requirements</vt:lpstr>
      <vt:lpstr>Non-Functional Requirements</vt:lpstr>
    </vt:vector>
  </TitlesOfParts>
  <Company>Troy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CS4454LECT1</dc:title>
  <dc:creator>bjung@troy.edu</dc:creator>
  <cp:lastModifiedBy>Meghkumar Hasmukhbai Patel</cp:lastModifiedBy>
  <cp:revision>2206</cp:revision>
  <cp:lastPrinted>2017-08-29T15:55:19Z</cp:lastPrinted>
  <dcterms:created xsi:type="dcterms:W3CDTF">1999-12-12T05:47:40Z</dcterms:created>
  <dcterms:modified xsi:type="dcterms:W3CDTF">2025-09-10T18:54:47Z</dcterms:modified>
</cp:coreProperties>
</file>