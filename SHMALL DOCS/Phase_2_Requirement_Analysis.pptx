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1"/>
    <p:sldMasterId id="2147484066" r:id="rId2"/>
  </p:sldMasterIdLst>
  <p:notesMasterIdLst>
    <p:notesMasterId r:id="rId33"/>
  </p:notesMasterIdLst>
  <p:handoutMasterIdLst>
    <p:handoutMasterId r:id="rId34"/>
  </p:handoutMasterIdLst>
  <p:sldIdLst>
    <p:sldId id="256" r:id="rId3"/>
    <p:sldId id="313" r:id="rId4"/>
    <p:sldId id="365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8" r:id="rId15"/>
    <p:sldId id="329" r:id="rId16"/>
    <p:sldId id="330" r:id="rId17"/>
    <p:sldId id="331" r:id="rId18"/>
    <p:sldId id="332" r:id="rId19"/>
    <p:sldId id="333" r:id="rId20"/>
    <p:sldId id="342" r:id="rId21"/>
    <p:sldId id="343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366" r:id="rId32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66FF33"/>
    <a:srgbClr val="FFCC66"/>
    <a:srgbClr val="FFCCFF"/>
    <a:srgbClr val="9900CC"/>
    <a:srgbClr val="006600"/>
    <a:srgbClr val="FFFF66"/>
    <a:srgbClr val="77E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45" autoAdjust="0"/>
    <p:restoredTop sz="78593" autoAdjust="0"/>
  </p:normalViewPr>
  <p:slideViewPr>
    <p:cSldViewPr showGuides="1">
      <p:cViewPr varScale="1">
        <p:scale>
          <a:sx n="87" d="100"/>
          <a:sy n="87" d="100"/>
        </p:scale>
        <p:origin x="194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53" d="100"/>
          <a:sy n="53" d="100"/>
        </p:scale>
        <p:origin x="3150" y="9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57883A2B-1520-4660-BF58-16B187C346B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2525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6197" name="Rectangle 5">
            <a:extLst>
              <a:ext uri="{FF2B5EF4-FFF2-40B4-BE49-F238E27FC236}">
                <a16:creationId xmlns:a16="http://schemas.microsoft.com/office/drawing/2014/main" id="{A35F5504-76A1-4FCF-80B3-5E549EFB8E6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125" y="4715832"/>
            <a:ext cx="4987425" cy="4464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09" tIns="46855" rIns="93709" bIns="4685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ko-KR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Verdana" panose="020B0604030504040204" pitchFamily="34" charset="0"/>
        <a:ea typeface="굴림" panose="020B0600000101010101" pitchFamily="50" charset="-127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10DF882-1141-412B-A619-6D40D7D4DE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249A60D-F3D9-4C03-880C-16BA85A95F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01977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22592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84815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00954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18418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83610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1676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03361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0696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501567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89623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043229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26451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12440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533706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827029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140212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597518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727114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875832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143537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ko-KR" dirty="0"/>
              <a:t>Cannot </a:t>
            </a:r>
            <a:r>
              <a:rPr lang="en-US" altLang="ko-KR" dirty="0" err="1"/>
              <a:t>acces</a:t>
            </a:r>
            <a:r>
              <a:rPr lang="en-US" altLang="ko-KR" dirty="0"/>
              <a:t> directly from actor to the interactions it </a:t>
            </a:r>
            <a:r>
              <a:rPr lang="en-US" altLang="ko-KR"/>
              <a:t>is virtual.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034786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449978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058928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100052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763319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321664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303906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86449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D5BA0025-300A-4296-9B33-0FAD6E3D1282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1C873EC7-72A1-4952-AC2D-5215A40233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5EE46240-023B-4F73-BD9C-1C9A08A95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38873417-0285-4B62-9052-C886D60376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DDD712B7-2A52-4ECE-BADB-D47394FAAA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6B3E4A82-4BE0-40BE-BFF3-DC22DCB098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B05B78DC-ADA5-42D0-ABA5-816FD0522F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25309989-A2AC-425F-A9A0-F5C70130A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4FF6FA5A-D0A7-476B-B3B1-C20102A8A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C04BFCD1-0F31-4539-98E5-84ACF78D4E8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24212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ko-KR" noProof="0"/>
              <a:t>Click to edit Master title style</a:t>
            </a:r>
          </a:p>
        </p:txBody>
      </p:sp>
      <p:sp>
        <p:nvSpPr>
          <p:cNvPr id="124212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ko-KR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2320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6066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0916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3468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6064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7312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488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3093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0318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7875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5843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150938" y="617538"/>
            <a:ext cx="7804150" cy="5514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839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4363" y="-42863"/>
            <a:ext cx="7513637" cy="1143001"/>
          </a:xfrm>
        </p:spPr>
        <p:txBody>
          <a:bodyPr/>
          <a:lstStyle>
            <a:lvl1pPr>
              <a:lnSpc>
                <a:spcPct val="120000"/>
              </a:lnSpc>
              <a:spcAft>
                <a:spcPct val="20000"/>
              </a:spcAft>
              <a:defRPr/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66738" y="3076575"/>
            <a:ext cx="6400800" cy="1752600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3600"/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pic>
        <p:nvPicPr>
          <p:cNvPr id="5" name="Picture 4" descr="TTUS SEAL Bline.eps"/>
          <p:cNvPicPr>
            <a:picLocks noChangeAspect="1"/>
          </p:cNvPicPr>
          <p:nvPr userDrawn="1"/>
        </p:nvPicPr>
        <p:blipFill>
          <a:blip r:embed="rId2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133" y="1715449"/>
            <a:ext cx="4685806" cy="4685806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5DCAB04-5C8A-4A3E-BB23-CD70712956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41CFF-B491-4296-AD0F-8E463E38FFDE}" type="slidenum">
              <a:rPr lang="en-US" smtClean="0"/>
              <a:pPr/>
              <a:t>‹#›</a:t>
            </a:fld>
            <a:r>
              <a:rPr lang="en-US" dirty="0"/>
              <a:t>/38</a:t>
            </a:r>
          </a:p>
        </p:txBody>
      </p:sp>
    </p:spTree>
    <p:extLst>
      <p:ext uri="{BB962C8B-B14F-4D97-AF65-F5344CB8AC3E}">
        <p14:creationId xmlns:p14="http://schemas.microsoft.com/office/powerpoint/2010/main" val="4262742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14363" y="-25400"/>
            <a:ext cx="7515225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69913" y="2130425"/>
            <a:ext cx="82296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426F1EC9-4C3F-4BF9-AAB6-D333F1212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2113" y="647382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8941CFF-B491-4296-AD0F-8E463E38FFDE}" type="slidenum">
              <a:rPr lang="en-US" smtClean="0"/>
              <a:pPr/>
              <a:t>‹#›</a:t>
            </a:fld>
            <a:r>
              <a:rPr lang="en-US" dirty="0"/>
              <a:t>/38</a:t>
            </a:r>
          </a:p>
        </p:txBody>
      </p:sp>
    </p:spTree>
    <p:extLst>
      <p:ext uri="{BB962C8B-B14F-4D97-AF65-F5344CB8AC3E}">
        <p14:creationId xmlns:p14="http://schemas.microsoft.com/office/powerpoint/2010/main" val="2264533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0976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14363" y="-25400"/>
            <a:ext cx="7515225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569913" y="213042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4760913" y="213042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408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26982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14363" y="-25400"/>
            <a:ext cx="7515225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1E1E2D3B-FB16-4B5C-942F-8B627412B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2113" y="647382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8941CFF-B491-4296-AD0F-8E463E38FFDE}" type="slidenum">
              <a:rPr lang="en-US" smtClean="0"/>
              <a:pPr/>
              <a:t>‹#›</a:t>
            </a:fld>
            <a:r>
              <a:rPr lang="en-US" dirty="0"/>
              <a:t>/38</a:t>
            </a:r>
          </a:p>
        </p:txBody>
      </p:sp>
    </p:spTree>
    <p:extLst>
      <p:ext uri="{BB962C8B-B14F-4D97-AF65-F5344CB8AC3E}">
        <p14:creationId xmlns:p14="http://schemas.microsoft.com/office/powerpoint/2010/main" val="1730716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E098698-F311-4B17-9D78-9A01BD0E2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2113" y="647382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8941CFF-B491-4296-AD0F-8E463E38FFDE}" type="slidenum">
              <a:rPr lang="en-US" smtClean="0"/>
              <a:pPr/>
              <a:t>‹#›</a:t>
            </a:fld>
            <a:r>
              <a:rPr lang="en-US" dirty="0"/>
              <a:t>/38</a:t>
            </a:r>
          </a:p>
        </p:txBody>
      </p:sp>
    </p:spTree>
    <p:extLst>
      <p:ext uri="{BB962C8B-B14F-4D97-AF65-F5344CB8AC3E}">
        <p14:creationId xmlns:p14="http://schemas.microsoft.com/office/powerpoint/2010/main" val="20731359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3E69A746-9A82-44B6-86BF-706BDDCB7A6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848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90235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14363" y="-25400"/>
            <a:ext cx="7515225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9913" y="2130425"/>
            <a:ext cx="8229600" cy="4525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85587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itle 1"/>
          <p:cNvSpPr>
            <a:spLocks noGrp="1"/>
          </p:cNvSpPr>
          <p:nvPr>
            <p:ph type="title" orient="vert"/>
          </p:nvPr>
        </p:nvSpPr>
        <p:spPr>
          <a:xfrm>
            <a:off x="6742113" y="-25400"/>
            <a:ext cx="2057400" cy="66817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9913" y="-25400"/>
            <a:ext cx="6019800" cy="66817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23539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 i="0">
                <a:latin typeface="Gill Sans MT" panose="020B0502020104020203" pitchFamily="34" charset="0"/>
              </a:defRPr>
            </a:lvl1pPr>
            <a:lvl2pPr>
              <a:defRPr sz="1800" i="0">
                <a:latin typeface="Gill Sans MT" panose="020B0502020104020203" pitchFamily="34" charset="0"/>
              </a:defRPr>
            </a:lvl2pPr>
            <a:lvl3pPr>
              <a:defRPr sz="1800" i="0">
                <a:latin typeface="Gill Sans MT" panose="020B0502020104020203" pitchFamily="34" charset="0"/>
              </a:defRPr>
            </a:lvl3pPr>
            <a:lvl4pPr>
              <a:defRPr sz="1800" i="0">
                <a:latin typeface="Gill Sans MT" panose="020B0502020104020203" pitchFamily="34" charset="0"/>
              </a:defRPr>
            </a:lvl4pPr>
            <a:lvl5pPr>
              <a:defRPr sz="1800" i="0"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B8C50AB-BD10-483A-ADBB-6F432C40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00">
                <a:latin typeface="Gill Sans MT" panose="020B0502020104020203" pitchFamily="34" charset="0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5" name="슬라이드 번호 개체 틀 1">
            <a:extLst>
              <a:ext uri="{FF2B5EF4-FFF2-40B4-BE49-F238E27FC236}">
                <a16:creationId xmlns:a16="http://schemas.microsoft.com/office/drawing/2014/main" id="{FEC1C5AD-CE87-4D2F-B06B-04C806DA8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2113" y="647382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8941CFF-B491-4296-AD0F-8E463E38FFDE}" type="slidenum">
              <a:rPr lang="en-US" smtClean="0"/>
              <a:pPr/>
              <a:t>‹#›</a:t>
            </a:fld>
            <a:r>
              <a:rPr lang="en-US" dirty="0"/>
              <a:t>/38</a:t>
            </a:r>
          </a:p>
        </p:txBody>
      </p:sp>
    </p:spTree>
    <p:extLst>
      <p:ext uri="{BB962C8B-B14F-4D97-AF65-F5344CB8AC3E}">
        <p14:creationId xmlns:p14="http://schemas.microsoft.com/office/powerpoint/2010/main" val="3680992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3160761-5107-44E1-B4ED-21462A4122A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F9E40BA-F8D0-48A8-8361-65A55799577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252192F-FBF2-4437-B509-F5CA794D008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66A4BFD-856F-4D4E-BBF7-479C8A4B47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603265E-76AD-48B6-9F72-58F3BBBB34A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E23847-2842-491B-B516-47C93F21900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31AAB6F5-FA62-4B5C-B6CC-4D56F00425E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F7EEFEAB-24BD-481C-8118-595448625B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55D7D737-1905-4742-BC0D-E12FA8177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5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146175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latin typeface="gall sant"/>
            </a:endParaRPr>
          </a:p>
        </p:txBody>
      </p:sp>
      <p:pic>
        <p:nvPicPr>
          <p:cNvPr id="2051" name="Picture 7"/>
          <p:cNvPicPr>
            <a:picLocks noChangeAspect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7939088" y="134938"/>
            <a:ext cx="85725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4363" y="-25400"/>
            <a:ext cx="75152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9913" y="2130425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7F8BDB6-6F16-4EF3-B941-E785F1885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2113" y="647382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8941CFF-B491-4296-AD0F-8E463E38FFDE}" type="slidenum">
              <a:rPr lang="en-US" smtClean="0"/>
              <a:pPr/>
              <a:t>‹#›</a:t>
            </a:fld>
            <a:r>
              <a:rPr lang="en-US" dirty="0"/>
              <a:t>/38</a:t>
            </a:r>
          </a:p>
        </p:txBody>
      </p:sp>
    </p:spTree>
    <p:extLst>
      <p:ext uri="{BB962C8B-B14F-4D97-AF65-F5344CB8AC3E}">
        <p14:creationId xmlns:p14="http://schemas.microsoft.com/office/powerpoint/2010/main" val="3588004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7" r:id="rId1"/>
    <p:sldLayoutId id="2147484068" r:id="rId2"/>
    <p:sldLayoutId id="2147484069" r:id="rId3"/>
    <p:sldLayoutId id="2147484070" r:id="rId4"/>
    <p:sldLayoutId id="2147484071" r:id="rId5"/>
    <p:sldLayoutId id="2147484072" r:id="rId6"/>
    <p:sldLayoutId id="2147484073" r:id="rId7"/>
    <p:sldLayoutId id="2147484074" r:id="rId8"/>
    <p:sldLayoutId id="2147484075" r:id="rId9"/>
    <p:sldLayoutId id="2147484076" r:id="rId10"/>
    <p:sldLayoutId id="2147484077" r:id="rId11"/>
    <p:sldLayoutId id="2147484078" r:id="rId12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bg1"/>
          </a:solidFill>
          <a:latin typeface="gall sant"/>
          <a:ea typeface="ＭＳ Ｐゴシック" charset="0"/>
          <a:cs typeface="Times New Roman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imes New Roman" charset="0"/>
          <a:ea typeface="ＭＳ Ｐゴシック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imes New Roman" charset="0"/>
          <a:ea typeface="ＭＳ Ｐゴシック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imes New Roman" charset="0"/>
          <a:ea typeface="ＭＳ Ｐゴシック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imes New Roman" charset="0"/>
          <a:ea typeface="ＭＳ Ｐゴシック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imes New Roman" charset="0"/>
          <a:ea typeface="ＭＳ Ｐゴシック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imes New Roman" charset="0"/>
          <a:ea typeface="ＭＳ Ｐゴシック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imes New Roman" charset="0"/>
          <a:ea typeface="ＭＳ Ｐゴシック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imes New Roman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defRPr sz="1800" i="0" kern="1200">
          <a:solidFill>
            <a:schemeClr val="tx1"/>
          </a:solidFill>
          <a:latin typeface="gall sant"/>
          <a:ea typeface="ＭＳ Ｐゴシック" charset="0"/>
          <a:cs typeface="Times New Roman"/>
        </a:defRPr>
      </a:lvl1pPr>
      <a:lvl2pPr marL="8001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800" i="0" kern="1200">
          <a:solidFill>
            <a:srgbClr val="000000"/>
          </a:solidFill>
          <a:latin typeface="gall sant"/>
          <a:ea typeface="ＭＳ Ｐゴシック" charset="0"/>
          <a:cs typeface="Times New Roman"/>
        </a:defRPr>
      </a:lvl2pPr>
      <a:lvl3pPr marL="12001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 i="0" kern="1200">
          <a:solidFill>
            <a:schemeClr val="tx1"/>
          </a:solidFill>
          <a:latin typeface="gall sant"/>
          <a:ea typeface="ＭＳ Ｐゴシック" charset="0"/>
          <a:cs typeface="Times New Roman"/>
        </a:defRPr>
      </a:lvl3pPr>
      <a:lvl4pPr marL="1657350" indent="-285750" algn="l" defTabSz="457200" rtl="0" eaLnBrk="0" fontAlgn="base" hangingPunct="0">
        <a:spcBef>
          <a:spcPct val="20000"/>
        </a:spcBef>
        <a:spcAft>
          <a:spcPct val="0"/>
        </a:spcAft>
        <a:buFont typeface="Lucida Grande" pitchFamily="-84" charset="0"/>
        <a:buChar char="-"/>
        <a:defRPr sz="1800" i="0" kern="1200">
          <a:solidFill>
            <a:schemeClr val="tx1"/>
          </a:solidFill>
          <a:latin typeface="gall sant"/>
          <a:ea typeface="ＭＳ Ｐゴシック" charset="0"/>
          <a:cs typeface="Times New Roman"/>
        </a:defRPr>
      </a:lvl4pPr>
      <a:lvl5pPr marL="1828800" algn="l" defTabSz="457200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defRPr sz="1800" i="0" kern="1200">
          <a:solidFill>
            <a:schemeClr val="tx1"/>
          </a:solidFill>
          <a:latin typeface="gall sant"/>
          <a:ea typeface="ＭＳ Ｐゴシック" charset="0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2D7BDD79-23E2-4C3D-B6B5-6C55C32BA8B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" y="1447800"/>
            <a:ext cx="8839200" cy="1143000"/>
          </a:xfrm>
        </p:spPr>
        <p:txBody>
          <a:bodyPr/>
          <a:lstStyle/>
          <a:p>
            <a:pPr algn="ctr" eaLnBrk="1" hangingPunct="1"/>
            <a:r>
              <a:rPr lang="en-US" altLang="ko-KR" sz="3600" b="1" dirty="0">
                <a:latin typeface="Gill Sans MT" panose="020B0502020104020203" pitchFamily="34" charset="0"/>
              </a:rPr>
              <a:t>Phase 2: Requirements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Static Model &amp; </a:t>
            </a:r>
            <a:br>
              <a:rPr lang="en-US" altLang="ko-KR" sz="2800" b="1" dirty="0">
                <a:latin typeface="Gill Sans MT" panose="020B0502020104020203" pitchFamily="34" charset="0"/>
              </a:rPr>
            </a:br>
            <a:r>
              <a:rPr lang="en-US" altLang="ko-KR" sz="2800" b="1" dirty="0">
                <a:latin typeface="Gill Sans MT" panose="020B0502020104020203" pitchFamily="34" charset="0"/>
              </a:rPr>
              <a:t>Communication Diagram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2133600"/>
            <a:ext cx="7413625" cy="4419600"/>
          </a:xfrm>
        </p:spPr>
        <p:txBody>
          <a:bodyPr/>
          <a:lstStyle/>
          <a:p>
            <a:r>
              <a:rPr lang="en-US" sz="2000" b="1" dirty="0"/>
              <a:t>Requirements Analysis</a:t>
            </a:r>
            <a:br>
              <a:rPr lang="en-US" sz="1800" b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</a:rPr>
            </a:br>
            <a:r>
              <a:rPr lang="en-US" sz="1800" b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</a:rPr>
              <a:t>                                               </a:t>
            </a:r>
            <a:endParaRPr lang="en-US" sz="2000" b="1" dirty="0">
              <a:solidFill>
                <a:srgbClr val="FF0000"/>
              </a:solidFill>
            </a:endParaRPr>
          </a:p>
          <a:p>
            <a:pPr lvl="1"/>
            <a:r>
              <a:rPr lang="en-US" sz="1600" dirty="0"/>
              <a:t>Develop the static model for the online shopping mall, which depicts the classes and their relationships. A class can be classified as a boundary class, entity class, control class, or application logic class. Define the attributes of each entity class.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Develop the communication model depicting objects participating in each use case and the sequence of interactions among the objects. A use case is modeled using a communication diagram.</a:t>
            </a:r>
          </a:p>
        </p:txBody>
      </p:sp>
    </p:spTree>
    <p:extLst>
      <p:ext uri="{BB962C8B-B14F-4D97-AF65-F5344CB8AC3E}">
        <p14:creationId xmlns:p14="http://schemas.microsoft.com/office/powerpoint/2010/main" val="1952293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Static Modeling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Define structural relationships between classes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Depict classes and their relationships on class diagrams</a:t>
            </a:r>
          </a:p>
          <a:p>
            <a:pPr lvl="1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Static Modeling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In OO Analysis Modeling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Define classes in system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Defines attributes of classes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Defines relationships between classes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Defines operations of each class</a:t>
            </a:r>
          </a:p>
          <a:p>
            <a:pPr lvl="2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Relationships between classes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Associations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Composition / Aggregation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Generalization / Specialization</a:t>
            </a:r>
          </a:p>
        </p:txBody>
      </p:sp>
    </p:spTree>
    <p:extLst>
      <p:ext uri="{BB962C8B-B14F-4D97-AF65-F5344CB8AC3E}">
        <p14:creationId xmlns:p14="http://schemas.microsoft.com/office/powerpoint/2010/main" val="1742682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Example of classes with attributes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Use UML notation of classes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16393" t="32857" r="11278" b="8367"/>
          <a:stretch/>
        </p:blipFill>
        <p:spPr>
          <a:xfrm>
            <a:off x="2057400" y="2590800"/>
            <a:ext cx="4113212" cy="29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960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Association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Association is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static, structural relationship between classes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 err="1">
                <a:latin typeface="Gill Sans MT" panose="020B0502020104020203" pitchFamily="34" charset="0"/>
              </a:rPr>
              <a:t>E.g</a:t>
            </a:r>
            <a:r>
              <a:rPr lang="en-US" altLang="ko-KR" sz="1800" dirty="0">
                <a:latin typeface="Gill Sans MT" panose="020B0502020104020203" pitchFamily="34" charset="0"/>
              </a:rPr>
              <a:t>, Employee works in Department</a:t>
            </a:r>
          </a:p>
          <a:p>
            <a:pPr lvl="1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Multiplicity of Associations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Specifies how many instances of one class may relate to a single instance of another class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Examples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1-to-1 association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1-to-many association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Optional association (0 or 1)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Optional association (0, 1, or many)</a:t>
            </a:r>
          </a:p>
        </p:txBody>
      </p:sp>
    </p:spTree>
    <p:extLst>
      <p:ext uri="{BB962C8B-B14F-4D97-AF65-F5344CB8AC3E}">
        <p14:creationId xmlns:p14="http://schemas.microsoft.com/office/powerpoint/2010/main" val="572588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UML notation for relationship on class diagram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20000" t="23283" r="25417" b="9542"/>
          <a:stretch/>
        </p:blipFill>
        <p:spPr>
          <a:xfrm>
            <a:off x="1182688" y="1712913"/>
            <a:ext cx="7032914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960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Composition and Aggregation Hierarchies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Whole/Part Relationships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Show parts of more complex class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Is part of Relationship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Between part classes and whole class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Composition is stronger relationship than aggregation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34166" t="44657" r="19166" b="17939"/>
          <a:stretch/>
        </p:blipFill>
        <p:spPr>
          <a:xfrm>
            <a:off x="865187" y="3581400"/>
            <a:ext cx="701040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20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Composition Hierarchy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Whole and part objects are created, live, die together</a:t>
            </a:r>
          </a:p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Often also has a physical association</a:t>
            </a:r>
          </a:p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Association between instances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E.g., Composite class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ATM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Part classes</a:t>
            </a:r>
          </a:p>
        </p:txBody>
      </p:sp>
    </p:spTree>
    <p:extLst>
      <p:ext uri="{BB962C8B-B14F-4D97-AF65-F5344CB8AC3E}">
        <p14:creationId xmlns:p14="http://schemas.microsoft.com/office/powerpoint/2010/main" val="2336454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Example of Composition Hierarchy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26250" t="35496" r="6666" b="21755"/>
          <a:stretch/>
        </p:blipFill>
        <p:spPr>
          <a:xfrm>
            <a:off x="595312" y="2590800"/>
            <a:ext cx="7550150" cy="262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66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Example of Composition Hierarchy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24166" t="25573" r="4584" b="14122"/>
          <a:stretch/>
        </p:blipFill>
        <p:spPr>
          <a:xfrm>
            <a:off x="352332" y="2614154"/>
            <a:ext cx="8605214" cy="397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224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Aggregation Hierarchy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Part objects of aggregate object may be created and deleted independently of aggregate object</a:t>
            </a:r>
          </a:p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E.g., Aggregate class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College</a:t>
            </a:r>
          </a:p>
        </p:txBody>
      </p:sp>
    </p:spTree>
    <p:extLst>
      <p:ext uri="{BB962C8B-B14F-4D97-AF65-F5344CB8AC3E}">
        <p14:creationId xmlns:p14="http://schemas.microsoft.com/office/powerpoint/2010/main" val="1465875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Example of Aggregation Hierarchy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30833" t="22519" r="8750" b="4961"/>
          <a:stretch/>
        </p:blipFill>
        <p:spPr>
          <a:xfrm>
            <a:off x="914400" y="1838598"/>
            <a:ext cx="7413625" cy="485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609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Object and Class Structuring Criteria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Objective: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Determine all software objects and classes in system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Use Object and Class Structuring Criteria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Guidelines for identifying objects and classes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Structuring criteria depicted using stereotypes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Stereotype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Defines role of class or object in application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Depicted using angle brackets, e.g.,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«entity», «output», «control»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Class has same stereotype as objects instantiated from it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30833" t="43130" r="11667" b="37023"/>
          <a:stretch/>
        </p:blipFill>
        <p:spPr>
          <a:xfrm>
            <a:off x="522287" y="5073694"/>
            <a:ext cx="7696200" cy="145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20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Classification of application classes using</a:t>
            </a:r>
            <a:br>
              <a:rPr lang="en-US" altLang="ko-KR" sz="2800" b="1" dirty="0">
                <a:latin typeface="Gill Sans MT" panose="020B0502020104020203" pitchFamily="34" charset="0"/>
              </a:rPr>
            </a:br>
            <a:r>
              <a:rPr lang="en-US" altLang="ko-KR" sz="2800" b="1" dirty="0">
                <a:latin typeface="Gill Sans MT" panose="020B0502020104020203" pitchFamily="34" charset="0"/>
              </a:rPr>
              <a:t>stereotypes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80232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Use the stereotypes below only. Do not come up with other stereotypes!!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24583" t="26336" r="5117" b="14122"/>
          <a:stretch/>
        </p:blipFill>
        <p:spPr>
          <a:xfrm>
            <a:off x="656201" y="2459355"/>
            <a:ext cx="7821049" cy="361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76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Object Structuring Criteria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Boundary object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Software object that interfaces to and communicates with external environment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Each software boundary object interfaces to an external (real-world) object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User interaction object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Device I/O object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Proxy object</a:t>
            </a:r>
          </a:p>
          <a:p>
            <a:pPr lvl="2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For each software boundary object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There is a corresponding external object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70122" t="53435" r="13628" b="23664"/>
          <a:stretch/>
        </p:blipFill>
        <p:spPr>
          <a:xfrm>
            <a:off x="5334000" y="3581400"/>
            <a:ext cx="29718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18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Entity Classes and Objects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Entity objects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Software object that stores information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Instance of entity class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E.g., Account, Customer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Determined during static modeling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Entity classes and relationships shown on class diagram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44583" t="46183" r="28750" b="37023"/>
          <a:stretch/>
        </p:blipFill>
        <p:spPr>
          <a:xfrm>
            <a:off x="1931987" y="4495800"/>
            <a:ext cx="48768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47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Object Structuring Criteria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Control objects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Provides overall coordination for execution of a group of objects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Makes overall decisions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Decides when, and in what order, other objects participate in interaction sequence</a:t>
            </a:r>
          </a:p>
          <a:p>
            <a:pPr lvl="1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Control objects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Coordinator object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State dependent control object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Timer object</a:t>
            </a:r>
          </a:p>
        </p:txBody>
      </p:sp>
    </p:spTree>
    <p:extLst>
      <p:ext uri="{BB962C8B-B14F-4D97-AF65-F5344CB8AC3E}">
        <p14:creationId xmlns:p14="http://schemas.microsoft.com/office/powerpoint/2010/main" val="2177380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Application Logic Objects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Application Logic Object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Software object that contains details specific to application</a:t>
            </a:r>
          </a:p>
          <a:p>
            <a:pPr lvl="1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Application Logic Objects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Business Logic Object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Algorithm Object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Service Object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Autonomous self-contained object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Provides a service to other objects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Responds to requests from client objects</a:t>
            </a:r>
          </a:p>
        </p:txBody>
      </p:sp>
    </p:spTree>
    <p:extLst>
      <p:ext uri="{BB962C8B-B14F-4D97-AF65-F5344CB8AC3E}">
        <p14:creationId xmlns:p14="http://schemas.microsoft.com/office/powerpoint/2010/main" val="3887673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Dynamic Interaction Modeling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Use cases realized in Dynamic Interaction Model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Show objects participating in each use case</a:t>
            </a:r>
          </a:p>
          <a:p>
            <a:pPr lvl="1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Determine how objects participate in use case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Use object structuring criteria to determine objects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Stereotype for each object structuring criterion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Shows sequence of object interactions in use case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Depict on</a:t>
            </a:r>
          </a:p>
          <a:p>
            <a:pPr lvl="3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communication diagram or</a:t>
            </a:r>
          </a:p>
          <a:p>
            <a:pPr lvl="3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sequence diagram</a:t>
            </a:r>
          </a:p>
        </p:txBody>
      </p:sp>
    </p:spTree>
    <p:extLst>
      <p:ext uri="{BB962C8B-B14F-4D97-AF65-F5344CB8AC3E}">
        <p14:creationId xmlns:p14="http://schemas.microsoft.com/office/powerpoint/2010/main" val="2477136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Communication Diagram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Graphically depicts objects interacting with each other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Show objects as boxes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Show their message interactions as arrows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Number sequence of messages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5833" t="26336" r="38334" b="14122"/>
          <a:stretch/>
        </p:blipFill>
        <p:spPr>
          <a:xfrm>
            <a:off x="1525589" y="3276600"/>
            <a:ext cx="5256212" cy="305958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l="5833" t="72645" r="75964" b="14122"/>
          <a:stretch/>
        </p:blipFill>
        <p:spPr>
          <a:xfrm>
            <a:off x="3124200" y="5726586"/>
            <a:ext cx="1713706" cy="68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42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Dynamic Interaction Modeling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Start with use case</a:t>
            </a:r>
          </a:p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Determine boundary objects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Receives external events from actor</a:t>
            </a:r>
          </a:p>
          <a:p>
            <a:pPr lvl="1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Determine internal objects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Receive messages from boundary objects</a:t>
            </a:r>
          </a:p>
          <a:p>
            <a:pPr lvl="1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Determine Control object if needed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Control object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Executes state chart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Activates/deactivates other objects</a:t>
            </a:r>
          </a:p>
        </p:txBody>
      </p:sp>
    </p:spTree>
    <p:extLst>
      <p:ext uri="{BB962C8B-B14F-4D97-AF65-F5344CB8AC3E}">
        <p14:creationId xmlns:p14="http://schemas.microsoft.com/office/powerpoint/2010/main" val="2740746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Dynamic Interaction Modeling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Determine object interactions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Sequence of messages passed</a:t>
            </a:r>
          </a:p>
          <a:p>
            <a:pPr lvl="1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Develop main interaction sequence (scenario)</a:t>
            </a:r>
          </a:p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Develop alternative sequences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For alternative branches of use case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E.g., for error handling or less frequently occurring conditions</a:t>
            </a:r>
          </a:p>
        </p:txBody>
      </p:sp>
    </p:spTree>
    <p:extLst>
      <p:ext uri="{BB962C8B-B14F-4D97-AF65-F5344CB8AC3E}">
        <p14:creationId xmlns:p14="http://schemas.microsoft.com/office/powerpoint/2010/main" val="61925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Communication diagram for</a:t>
            </a:r>
            <a:br>
              <a:rPr lang="en-US" altLang="ko-KR" sz="2800" b="1" dirty="0">
                <a:latin typeface="Gill Sans MT" panose="020B0502020104020203" pitchFamily="34" charset="0"/>
              </a:rPr>
            </a:br>
            <a:r>
              <a:rPr lang="en-US" altLang="ko-KR" sz="2800" b="1" dirty="0">
                <a:latin typeface="Gill Sans MT" panose="020B0502020104020203" pitchFamily="34" charset="0"/>
              </a:rPr>
              <a:t> View Alarms use case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27916" t="30916" r="34583" b="8779"/>
          <a:stretch/>
        </p:blipFill>
        <p:spPr>
          <a:xfrm>
            <a:off x="2057400" y="2175934"/>
            <a:ext cx="5334000" cy="468206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l="27916" t="80923" r="59227" b="8779"/>
          <a:stretch/>
        </p:blipFill>
        <p:spPr>
          <a:xfrm>
            <a:off x="3505200" y="5943600"/>
            <a:ext cx="1828800" cy="79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825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Message Sequence Numbering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Form of message sequence number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[first optional letter sequence][numeric sequence][second optional letter sequence]</a:t>
            </a:r>
          </a:p>
          <a:p>
            <a:pPr lvl="1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First optional letter sequence - use case id</a:t>
            </a:r>
          </a:p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Numeric sequence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Message sequence starting with external event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A1, A2, A3</a:t>
            </a:r>
          </a:p>
          <a:p>
            <a:pPr lvl="1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Interactive System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Whole number for external event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A1, A2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Decimal number for subsequent internal events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A1.1, A1.2,A1.3, …,A2, A2.1, A2.2,…</a:t>
            </a:r>
          </a:p>
        </p:txBody>
      </p:sp>
    </p:spTree>
    <p:extLst>
      <p:ext uri="{BB962C8B-B14F-4D97-AF65-F5344CB8AC3E}">
        <p14:creationId xmlns:p14="http://schemas.microsoft.com/office/powerpoint/2010/main" val="22725640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Message Sequence Numbering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Second optional letter sequence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Concurrent event sequences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A3, A3a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Alternative message sequences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D1[Normal], D1A[Error]</a:t>
            </a:r>
          </a:p>
          <a:p>
            <a:pPr lvl="2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Describes sequence of object interactions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Narrative description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Corresponds to Communication Diagram or Sequence Diagram</a:t>
            </a:r>
          </a:p>
          <a:p>
            <a:pPr lvl="1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Description corresponds to message sequence numbering on diagrams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Describe what object does on receiving message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E.g., every time an object interacts with an entity object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Describe the object being accessed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Identify attributes referenced</a:t>
            </a:r>
          </a:p>
          <a:p>
            <a:pPr lvl="2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ko-KR" sz="26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564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Message Sequence Description -</a:t>
            </a:r>
            <a:br>
              <a:rPr lang="en-US" altLang="ko-KR" sz="2800" b="1" dirty="0">
                <a:latin typeface="Gill Sans MT" panose="020B0502020104020203" pitchFamily="34" charset="0"/>
              </a:rPr>
            </a:br>
            <a:r>
              <a:rPr lang="en-US" altLang="ko-KR" sz="2800" b="1" dirty="0">
                <a:latin typeface="Gill Sans MT" panose="020B0502020104020203" pitchFamily="34" charset="0"/>
              </a:rPr>
              <a:t>View Alarms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A1: The operator requests to view one or more alarms—for example, to view the status of a factory workstation.</a:t>
            </a:r>
          </a:p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A1.1: </a:t>
            </a:r>
            <a:r>
              <a:rPr lang="en-US" altLang="ko-KR" sz="1800" b="1" i="1" dirty="0">
                <a:latin typeface="Gill Sans MT" panose="020B0502020104020203" pitchFamily="34" charset="0"/>
              </a:rPr>
              <a:t>Operator Interaction object</a:t>
            </a:r>
            <a:r>
              <a:rPr lang="en-US" altLang="ko-KR" sz="1800" dirty="0">
                <a:latin typeface="Gill Sans MT" panose="020B0502020104020203" pitchFamily="34" charset="0"/>
              </a:rPr>
              <a:t> sends an alarm request to the </a:t>
            </a:r>
            <a:r>
              <a:rPr lang="en-US" altLang="ko-KR" sz="1800" b="1" i="1" dirty="0">
                <a:latin typeface="Gill Sans MT" panose="020B0502020104020203" pitchFamily="34" charset="0"/>
              </a:rPr>
              <a:t>Alarm Service.</a:t>
            </a:r>
          </a:p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A1.2: </a:t>
            </a:r>
            <a:r>
              <a:rPr lang="en-US" altLang="ko-KR" sz="1800" b="1" i="1" dirty="0">
                <a:latin typeface="Gill Sans MT" panose="020B0502020104020203" pitchFamily="34" charset="0"/>
              </a:rPr>
              <a:t>Alarm Service </a:t>
            </a:r>
            <a:r>
              <a:rPr lang="en-US" altLang="ko-KR" sz="1800" dirty="0">
                <a:latin typeface="Gill Sans MT" panose="020B0502020104020203" pitchFamily="34" charset="0"/>
              </a:rPr>
              <a:t>responds—for example, with information about the requested alarm: name, description, location, severity.</a:t>
            </a:r>
          </a:p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A1.3: </a:t>
            </a:r>
            <a:r>
              <a:rPr lang="en-US" altLang="ko-KR" sz="1800" b="1" i="1" dirty="0">
                <a:latin typeface="Gill Sans MT" panose="020B0502020104020203" pitchFamily="34" charset="0"/>
              </a:rPr>
              <a:t>Operator Interaction</a:t>
            </a:r>
            <a:r>
              <a:rPr lang="en-US" altLang="ko-KR" sz="1800" dirty="0">
                <a:latin typeface="Gill Sans MT" panose="020B0502020104020203" pitchFamily="34" charset="0"/>
              </a:rPr>
              <a:t> object formats and displays the alarm information to the operator.</a:t>
            </a:r>
            <a:endParaRPr lang="en-US" altLang="ko-KR" sz="26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973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Use case: Market Order Request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ko-KR" sz="2600" dirty="0">
              <a:latin typeface="Gill Sans MT" panose="020B0502020104020203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32917" t="20992" r="10000" b="53053"/>
          <a:stretch/>
        </p:blipFill>
        <p:spPr>
          <a:xfrm>
            <a:off x="1098575" y="3334657"/>
            <a:ext cx="7515200" cy="186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609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Use case: Market Order Request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Actor</a:t>
            </a:r>
            <a:r>
              <a:rPr lang="en-US" altLang="ko-KR" sz="1800" dirty="0">
                <a:latin typeface="Gill Sans MT" panose="020B0502020104020203" pitchFamily="34" charset="0"/>
              </a:rPr>
              <a:t>: Customer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Precondition</a:t>
            </a:r>
            <a:r>
              <a:rPr lang="en-US" altLang="ko-KR" sz="1800" dirty="0">
                <a:latin typeface="Gill Sans MT" panose="020B0502020104020203" pitchFamily="34" charset="0"/>
              </a:rPr>
              <a:t>: Customer has selected one or more catalog items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Description of main sequence: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1. Customer provides order request and customer account id to pay for purchase.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2. System retrieves customer account information, including the customer’s credit card details.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3. System checks the customer’s credit card for the purchase amount and, if approved, creates a credit card purchase authorization number.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4. System creates a delivery order containing order details, customer id, and credit card authorization #.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5. System confirms approval of purchase and displays order information to customer.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6. System sends email confirmation to customer.</a:t>
            </a:r>
          </a:p>
        </p:txBody>
      </p:sp>
    </p:spTree>
    <p:extLst>
      <p:ext uri="{BB962C8B-B14F-4D97-AF65-F5344CB8AC3E}">
        <p14:creationId xmlns:p14="http://schemas.microsoft.com/office/powerpoint/2010/main" val="2924485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Communication Diagram: </a:t>
            </a:r>
            <a:br>
              <a:rPr lang="en-US" altLang="ko-KR" sz="2800" b="1" dirty="0">
                <a:latin typeface="Gill Sans MT" panose="020B0502020104020203" pitchFamily="34" charset="0"/>
              </a:rPr>
            </a:br>
            <a:r>
              <a:rPr lang="en-US" altLang="ko-KR" sz="2800" b="1" dirty="0">
                <a:latin typeface="Gill Sans MT" panose="020B0502020104020203" pitchFamily="34" charset="0"/>
              </a:rPr>
              <a:t>Market Order Request-main sequence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13750" t="17939" r="12083" b="11832"/>
          <a:stretch/>
        </p:blipFill>
        <p:spPr>
          <a:xfrm>
            <a:off x="425519" y="2124075"/>
            <a:ext cx="8292961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405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Summary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Static Model: Classes in UML notation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400" b="1" dirty="0">
                <a:latin typeface="Gill Sans MT" panose="020B0502020104020203" pitchFamily="34" charset="0"/>
              </a:rPr>
              <a:t>Make sure you have stereotypes applied next to the class name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400" b="1" dirty="0">
                <a:latin typeface="Gill Sans MT" panose="020B0502020104020203" pitchFamily="34" charset="0"/>
              </a:rPr>
              <a:t>Write attributes so you have idea what contents are being stored or used in the class object</a:t>
            </a:r>
          </a:p>
          <a:p>
            <a:pPr lvl="1" eaLnBrk="1" hangingPunct="1">
              <a:spcBef>
                <a:spcPct val="0"/>
              </a:spcBef>
            </a:pPr>
            <a:endParaRPr lang="en-US" altLang="ko-KR" sz="1400" b="1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Communication Diagram: Connection of objects to show information flow of an use case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400" b="1" dirty="0">
                <a:latin typeface="Gill Sans MT" panose="020B0502020104020203" pitchFamily="34" charset="0"/>
              </a:rPr>
              <a:t>Steps of main / alternative sequences represented as arrow.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400" b="1" dirty="0">
                <a:latin typeface="Gill Sans MT" panose="020B0502020104020203" pitchFamily="34" charset="0"/>
              </a:rPr>
              <a:t>Make sure unify labeling and write sequences on arrow to show data flow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400" b="1" dirty="0">
                <a:latin typeface="Gill Sans MT" panose="020B0502020104020203" pitchFamily="34" charset="0"/>
              </a:rPr>
              <a:t>A LOT OF WORK NEEDED </a:t>
            </a:r>
            <a:endParaRPr lang="en-US" altLang="ko-KR" sz="14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590058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63953</TotalTime>
  <Words>1178</Words>
  <Application>Microsoft Macintosh PowerPoint</Application>
  <PresentationFormat>On-screen Show (4:3)</PresentationFormat>
  <Paragraphs>210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gall sant</vt:lpstr>
      <vt:lpstr>Gill Sans MT</vt:lpstr>
      <vt:lpstr>Lucida Grande</vt:lpstr>
      <vt:lpstr>Tahoma</vt:lpstr>
      <vt:lpstr>Times New Roman</vt:lpstr>
      <vt:lpstr>Verdana</vt:lpstr>
      <vt:lpstr>Wingdings</vt:lpstr>
      <vt:lpstr>Blends</vt:lpstr>
      <vt:lpstr>Custom Design</vt:lpstr>
      <vt:lpstr>Phase 2: Requirements analysis</vt:lpstr>
      <vt:lpstr>Static Model &amp;  Communication Diagram</vt:lpstr>
      <vt:lpstr>Static Modeling</vt:lpstr>
      <vt:lpstr>Example of classes with attributes</vt:lpstr>
      <vt:lpstr>Association</vt:lpstr>
      <vt:lpstr>UML notation for relationship on class diagram</vt:lpstr>
      <vt:lpstr>Composition and Aggregation Hierarchies</vt:lpstr>
      <vt:lpstr>Composition Hierarchy</vt:lpstr>
      <vt:lpstr>Example of Composition Hierarchy</vt:lpstr>
      <vt:lpstr>Example of Composition Hierarchy</vt:lpstr>
      <vt:lpstr>Aggregation Hierarchy</vt:lpstr>
      <vt:lpstr>Example of Aggregation Hierarchy</vt:lpstr>
      <vt:lpstr>Object and Class Structuring Criteria</vt:lpstr>
      <vt:lpstr>Classification of application classes using stereotypes</vt:lpstr>
      <vt:lpstr>Object Structuring Criteria</vt:lpstr>
      <vt:lpstr>Entity Classes and Objects</vt:lpstr>
      <vt:lpstr>Object Structuring Criteria</vt:lpstr>
      <vt:lpstr>Application Logic Objects</vt:lpstr>
      <vt:lpstr>Dynamic Interaction Modeling</vt:lpstr>
      <vt:lpstr>Communication Diagram</vt:lpstr>
      <vt:lpstr>Dynamic Interaction Modeling</vt:lpstr>
      <vt:lpstr>Dynamic Interaction Modeling</vt:lpstr>
      <vt:lpstr>Communication diagram for  View Alarms use case</vt:lpstr>
      <vt:lpstr>Message Sequence Numbering</vt:lpstr>
      <vt:lpstr>Message Sequence Numbering</vt:lpstr>
      <vt:lpstr>Message Sequence Description - View Alarms</vt:lpstr>
      <vt:lpstr>Use case: Market Order Request</vt:lpstr>
      <vt:lpstr>Use case: Market Order Request</vt:lpstr>
      <vt:lpstr>Communication Diagram:  Market Order Request-main sequence</vt:lpstr>
      <vt:lpstr>Summary</vt:lpstr>
    </vt:vector>
  </TitlesOfParts>
  <Company>Troy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CS4454LECT1</dc:title>
  <dc:creator>bjung@troy.edu</dc:creator>
  <cp:lastModifiedBy>Meghkumar Hasmukhbai Patel</cp:lastModifiedBy>
  <cp:revision>2224</cp:revision>
  <cp:lastPrinted>2017-08-29T15:55:19Z</cp:lastPrinted>
  <dcterms:created xsi:type="dcterms:W3CDTF">1999-12-12T05:47:40Z</dcterms:created>
  <dcterms:modified xsi:type="dcterms:W3CDTF">2025-09-28T18:03:16Z</dcterms:modified>
</cp:coreProperties>
</file>